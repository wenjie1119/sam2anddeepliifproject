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5F1"/>
                </a:solidFill>
                <a:latin typeface="Microsoft YaHei"/>
              </a:defRPr>
            </a:pPr>
            <a:r>
              <a:t>Tile 合并算法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如何将数万个 tile 的分割结果拼成完整的 QuPath 标注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931920"/>
            <a:ext cx="4846320" cy="3810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export_geojson()  ·  tile_reconstruction.py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5029200"/>
            <a:ext cx="2011680" cy="914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600" y="4754880"/>
            <a:ext cx="457200" cy="457200"/>
          </a:xfrm>
          <a:prstGeom prst="ellipse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805680"/>
            <a:ext cx="457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5F1"/>
                </a:solidFill>
                <a:latin typeface="Microsoft YaHei"/>
              </a:defRPr>
            </a:pPr>
            <a:r>
              <a:t>Pass 1</a:t>
            </a:r>
            <a:br/>
            <a:r>
              <a:t>提取多边形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5029200"/>
            <a:ext cx="2011680" cy="914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0" y="4754880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805680"/>
            <a:ext cx="457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Pass 2</a:t>
            </a:r>
            <a:br/>
            <a:r>
              <a:t>Union-Find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029200"/>
            <a:ext cx="2011680" cy="9144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0" y="475488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805680"/>
            <a:ext cx="457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166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Pass 3</a:t>
            </a:r>
            <a:br/>
            <a:r>
              <a:t>合并导出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5F1"/>
                </a:solidFill>
                <a:latin typeface="Microsoft YaHei"/>
              </a:defRPr>
            </a:pPr>
            <a:r>
              <a:t>问题: 同一细胞被切到多个 Tile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417320" cy="141732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60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Tile(0,0)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20" y="1188720"/>
            <a:ext cx="1417320" cy="1417320"/>
          </a:xfrm>
          <a:prstGeom prst="roundRect">
            <a:avLst/>
          </a:prstGeom>
          <a:solidFill>
            <a:srgbClr val="1A4066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20" y="1760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Tile(0,1)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188720"/>
            <a:ext cx="1417320" cy="1417320"/>
          </a:xfrm>
          <a:prstGeom prst="roundRect">
            <a:avLst/>
          </a:prstGeom>
          <a:solidFill>
            <a:srgbClr val="1A4670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60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Tile(0,2)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417320" cy="1417320"/>
          </a:xfrm>
          <a:prstGeom prst="roundRect">
            <a:avLst/>
          </a:prstGeom>
          <a:solidFill>
            <a:srgbClr val="204464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03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Tile(1,0)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2331720"/>
            <a:ext cx="1417320" cy="1417320"/>
          </a:xfrm>
          <a:prstGeom prst="roundRect">
            <a:avLst/>
          </a:prstGeom>
          <a:solidFill>
            <a:srgbClr val="204A6E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2903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Tile(1,1)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331720"/>
            <a:ext cx="1417320" cy="1417320"/>
          </a:xfrm>
          <a:prstGeom prst="roundRect">
            <a:avLst/>
          </a:prstGeom>
          <a:solidFill>
            <a:srgbClr val="205078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903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Tile(1,2)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417320" cy="1417320"/>
          </a:xfrm>
          <a:prstGeom prst="roundRect">
            <a:avLst/>
          </a:prstGeom>
          <a:solidFill>
            <a:srgbClr val="264E6C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6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Tile(2,0)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20" y="3474720"/>
            <a:ext cx="1417320" cy="1417320"/>
          </a:xfrm>
          <a:prstGeom prst="roundRect">
            <a:avLst/>
          </a:prstGeom>
          <a:solidFill>
            <a:srgbClr val="265476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20" y="4046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Tile(2,1)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474720"/>
            <a:ext cx="1417320" cy="1417320"/>
          </a:xfrm>
          <a:prstGeom prst="roundRect">
            <a:avLst/>
          </a:prstGeom>
          <a:solidFill>
            <a:srgbClr val="265A80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0462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Tile(2,2)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1188720"/>
            <a:ext cx="27432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1188720"/>
            <a:ext cx="27432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4520" y="2331720"/>
            <a:ext cx="27432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2331720"/>
            <a:ext cx="27432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20" y="3474720"/>
            <a:ext cx="27432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3474720"/>
            <a:ext cx="274320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2331720"/>
            <a:ext cx="141732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74520" y="2331720"/>
            <a:ext cx="141732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0" y="2331720"/>
            <a:ext cx="141732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474720"/>
            <a:ext cx="141732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4520" y="3474720"/>
            <a:ext cx="141732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520" y="3474720"/>
            <a:ext cx="141732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  <a:latin typeface="Microsoft YaHei"/>
              </a:defRPr>
            </a:pPr>
            <a:r>
              <a:t>橙/黄 = overlap 区域 (128px)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C40F"/>
                </a:solidFill>
                <a:latin typeface="Microsoft YaHei"/>
              </a:defRPr>
            </a:pPr>
            <a:r>
              <a:t>Zoom In: 一个细胞跨越两个 Tile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645920"/>
            <a:ext cx="2286000" cy="2286000"/>
          </a:xfrm>
          <a:prstGeom prst="roundRect">
            <a:avLst/>
          </a:prstGeom>
          <a:solidFill>
            <a:srgbClr val="1A3A5C"/>
          </a:solidFill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5F1"/>
                </a:solidFill>
                <a:latin typeface="Microsoft YaHei"/>
              </a:defRPr>
            </a:pPr>
            <a:r>
              <a:t>Tile 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0" y="1645920"/>
            <a:ext cx="2286000" cy="2286000"/>
          </a:xfrm>
          <a:prstGeom prst="roundRect">
            <a:avLst/>
          </a:prstGeom>
          <a:solidFill>
            <a:srgbClr val="204464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Microsoft YaHei"/>
              </a:defRPr>
            </a:pPr>
            <a:r>
              <a:t>Tile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1645920"/>
            <a:ext cx="548640" cy="22860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977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C40F"/>
                </a:solidFill>
                <a:latin typeface="Microsoft YaHei"/>
              </a:defRPr>
            </a:pPr>
            <a:r>
              <a:t>overlap</a:t>
            </a:r>
          </a:p>
        </p:txBody>
      </p:sp>
      <p:sp>
        <p:nvSpPr>
          <p:cNvPr id="41" name="Oval 40"/>
          <p:cNvSpPr/>
          <p:nvPr/>
        </p:nvSpPr>
        <p:spPr>
          <a:xfrm>
            <a:off x="7589520" y="2560320"/>
            <a:ext cx="1280160" cy="82296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2743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细胞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20624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问题: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4EC5F1"/>
                </a:solidFill>
                <a:latin typeface="Microsoft YaHei"/>
              </a:defRPr>
            </a:pPr>
            <a:r>
              <a:t>Tile A 中: 这个细胞的实例 ID = 3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FFA500"/>
                </a:solidFill>
                <a:latin typeface="Microsoft YaHei"/>
              </a:defRPr>
            </a:pPr>
            <a:r>
              <a:t>Tile B 中: 同一个细胞的实例 ID = 1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500" b="1">
                <a:solidFill>
                  <a:srgbClr val="F1C40F"/>
                </a:solidFill>
                <a:latin typeface="Microsoft YaHei"/>
              </a:defRPr>
            </a:pPr>
            <a:r>
              <a:t>两个 tile 各自独立推理，ID 不一致!</a:t>
            </a:r>
          </a:p>
          <a:p>
            <a:pPr algn="l">
              <a:spcAft>
                <a:spcPts val="300"/>
              </a:spcAft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→ 需要合并算法识别它们是同一个细胞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5F1"/>
                </a:solidFill>
                <a:latin typeface="Microsoft YaHei"/>
              </a:defRPr>
            </a:pPr>
            <a:r>
              <a:t>合并算法: 三 Pass 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920240" cy="13716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AAAAA"/>
                </a:solidFill>
                <a:latin typeface="Microsoft YaHei"/>
              </a:defRPr>
            </a:pPr>
            <a:r>
              <a:t>npy_masks/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每个 tile 的</a:t>
            </a:r>
            <a:br/>
            <a:r>
              <a:t>实例 mask (.npy)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13432" y="165506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80" y="1097280"/>
            <a:ext cx="1920240" cy="13716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5F1"/>
                </a:solidFill>
                <a:latin typeface="Microsoft YaHei"/>
              </a:defRPr>
            </a:pPr>
            <a: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逐 tile</a:t>
            </a:r>
            <a:br/>
            <a:r>
              <a:t>提取轮廓多边形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45152" y="165506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097280"/>
            <a:ext cx="1920240" cy="13716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A500"/>
                </a:solidFill>
                <a:latin typeface="Microsoft YaHei"/>
              </a:defRPr>
            </a:pPr>
            <a:r>
              <a:t>Pass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overlap 区域</a:t>
            </a:r>
            <a:br/>
            <a:r>
              <a:t>像素匹配</a:t>
            </a:r>
            <a:br/>
            <a:r>
              <a:t>Union-Find 合并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76872" y="165506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60920" y="1097280"/>
            <a:ext cx="1920240" cy="13716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  <a:latin typeface="Microsoft YaHei"/>
              </a:defRPr>
            </a:pPr>
            <a:r>
              <a:t>Pass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unary_union</a:t>
            </a:r>
            <a:br/>
            <a:r>
              <a:t>多边形融合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08592" y="165506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0" y="1097280"/>
            <a:ext cx="1920240" cy="137160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B59B6"/>
                </a:solidFill>
                <a:latin typeface="Microsoft YaHei"/>
              </a:defRPr>
            </a:pPr>
            <a:r>
              <a:t>.geojson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QuPath 标注</a:t>
            </a:r>
            <a:br/>
            <a:r>
              <a:t>CD34+ 检测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926080"/>
            <a:ext cx="3474720" cy="34747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5F1"/>
                </a:solidFill>
                <a:latin typeface="Microsoft YaHei"/>
              </a:defRPr>
            </a:pPr>
            <a:r>
              <a:t>Pass 1: 提取多边形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474720"/>
            <a:ext cx="1097280" cy="1097280"/>
          </a:xfrm>
          <a:prstGeom prst="rect">
            <a:avLst/>
          </a:prstGeom>
          <a:solidFill>
            <a:srgbClr val="2C3E50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6576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758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4023360"/>
            <a:ext cx="4572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0416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6177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tile mask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828800" y="3931920"/>
            <a:ext cx="274320" cy="18288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2194560" y="3611880"/>
            <a:ext cx="457200" cy="365760"/>
          </a:xfrm>
          <a:prstGeom prst="parallelogram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2286000" y="4069080"/>
            <a:ext cx="502920" cy="411480"/>
          </a:xfrm>
          <a:prstGeom prst="hexagon">
            <a:avLst/>
          </a:prstGeom>
          <a:solidFill>
            <a:srgbClr val="0096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46177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Polygon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937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4EC5F1"/>
                </a:solidFill>
                <a:latin typeface="Microsoft YaHei"/>
              </a:defRPr>
            </a:pPr>
            <a:r>
              <a:t>findContours → Polygon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坐标偏移到全局坐标系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1C40F"/>
                </a:solidFill>
                <a:latin typeface="Microsoft YaHei"/>
              </a:defRPr>
            </a:pPr>
            <a:r>
              <a:t>poly_map[(r,c,id)] = [Poly]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2926080"/>
            <a:ext cx="3474720" cy="34747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0"/>
                </a:solidFill>
                <a:latin typeface="Microsoft YaHei"/>
              </a:defRPr>
            </a:pPr>
            <a:r>
              <a:t>Pass 2: Overlap 匹配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474720"/>
            <a:ext cx="118872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34930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5F1"/>
                </a:solidFill>
                <a:latin typeface="Microsoft YaHei"/>
              </a:defRPr>
            </a:pPr>
            <a:r>
              <a:t>Tile 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3474720"/>
            <a:ext cx="1188720" cy="914400"/>
          </a:xfrm>
          <a:prstGeom prst="rect">
            <a:avLst/>
          </a:prstGeom>
          <a:solidFill>
            <a:srgbClr val="204464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34930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Microsoft YaHei"/>
              </a:defRPr>
            </a:pPr>
            <a:r>
              <a:t>Tile 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474720"/>
            <a:ext cx="274320" cy="9144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57800" y="3794760"/>
            <a:ext cx="548640" cy="36576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977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5F1"/>
                </a:solidFill>
                <a:latin typeface="Microsoft YaHei"/>
              </a:defRPr>
            </a:pPr>
            <a:r>
              <a:t>ID=3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977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Microsoft YaHei"/>
              </a:defRPr>
            </a:pPr>
            <a:r>
              <a:t>ID=1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577840" y="4480560"/>
            <a:ext cx="182880" cy="274320"/>
          </a:xfrm>
          <a:prstGeom prst="downArrow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0" y="4846320"/>
            <a:ext cx="2926080" cy="54864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Union-Find: (A,3) ∪ (B,1)</a:t>
            </a:r>
            <a:br/>
            <a:r>
              <a:t>→ 同一个细胞!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2120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A500"/>
                </a:solidFill>
                <a:latin typeface="Microsoft YaHei"/>
              </a:defRPr>
            </a:pPr>
            <a:r>
              <a:t>overlap 区域像素配对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右邻 / 下邻 / 对角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1C40F"/>
                </a:solidFill>
                <a:latin typeface="Microsoft YaHei"/>
              </a:defRPr>
            </a:pPr>
            <a:r>
              <a:t>Union-Find 路径压缩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2926080"/>
            <a:ext cx="3474720" cy="34747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2971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Pass 3: 合并导出</a:t>
            </a:r>
          </a:p>
        </p:txBody>
      </p:sp>
      <p:sp>
        <p:nvSpPr>
          <p:cNvPr id="51" name="Parallelogram 50"/>
          <p:cNvSpPr/>
          <p:nvPr/>
        </p:nvSpPr>
        <p:spPr>
          <a:xfrm>
            <a:off x="8503920" y="3474720"/>
            <a:ext cx="731520" cy="548640"/>
          </a:xfrm>
          <a:prstGeom prst="parallelogram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8961120" y="3566160"/>
            <a:ext cx="731520" cy="548640"/>
          </a:xfrm>
          <a:prstGeom prst="parallelogram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41148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合并前 (2个片段)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875520" y="3703320"/>
            <a:ext cx="274320" cy="18288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32720" y="3520440"/>
            <a:ext cx="1005840" cy="64008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完整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42062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unary_union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9875520" y="4480560"/>
            <a:ext cx="182880" cy="228600"/>
          </a:xfrm>
          <a:prstGeom prst="down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686800" y="4846320"/>
            <a:ext cx="2560320" cy="73152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4892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9B59B6"/>
                </a:solidFill>
                <a:latin typeface="Microsoft YaHei"/>
              </a:defRPr>
            </a:pPr>
            <a:r>
              <a:t>.geojson 输出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QuPath 直接导入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2ECC71"/>
                </a:solidFill>
                <a:latin typeface="Microsoft YaHei"/>
              </a:defRPr>
            </a:pPr>
            <a:r>
              <a:t>classification: CD34+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C5F1"/>
                </a:solidFill>
                <a:latin typeface="Microsoft YaHei"/>
              </a:defRPr>
            </a:pPr>
            <a:r>
              <a:t>Pass 1: 逐 Tile 提取多边形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82880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AA"/>
                </a:solidFill>
                <a:latin typeface="Microsoft YaHei"/>
              </a:defRPr>
            </a:pPr>
            <a:r>
              <a:t>tile.npy</a:t>
            </a:r>
            <a:br/>
            <a:r>
              <a:t>实例 mask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8840" y="1554480"/>
            <a:ext cx="228600" cy="18288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097280"/>
            <a:ext cx="182880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5F1"/>
                </a:solidFill>
                <a:latin typeface="Microsoft YaHei"/>
              </a:defRPr>
            </a:pPr>
            <a:r>
              <a:t>binary</a:t>
            </a:r>
            <a:br/>
            <a:r>
              <a:t>mask==id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34840" y="1554480"/>
            <a:ext cx="228600" cy="18288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1097280"/>
            <a:ext cx="182880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findContours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0840" y="1554480"/>
            <a:ext cx="228600" cy="18288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0" y="1097280"/>
            <a:ext cx="182880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Shapely</a:t>
            </a:r>
            <a:br/>
            <a:r>
              <a:t>Polygon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06840" y="1554480"/>
            <a:ext cx="228600" cy="18288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8320" y="1097280"/>
            <a:ext cx="1828800" cy="10972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2344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Microsoft YaHei"/>
              </a:defRPr>
            </a:pPr>
            <a:r>
              <a:t>poly_map</a:t>
            </a:r>
            <a:br/>
            <a:r>
              <a:t>{(r,c,id):[P]}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2560320" cy="2560320"/>
          </a:xfrm>
          <a:prstGeom prst="rect">
            <a:avLst/>
          </a:prstGeom>
          <a:solidFill>
            <a:srgbClr val="2C3E50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78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5F1"/>
                </a:solidFill>
                <a:latin typeface="Microsoft YaHei"/>
              </a:defRPr>
            </a:pPr>
            <a:r>
              <a:t>tile_mask.npy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017520"/>
            <a:ext cx="73152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21" name="Oval 20"/>
          <p:cNvSpPr/>
          <p:nvPr/>
        </p:nvSpPr>
        <p:spPr>
          <a:xfrm>
            <a:off x="1645920" y="3291840"/>
            <a:ext cx="822960" cy="7315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5661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206240"/>
            <a:ext cx="91440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00400" y="3680460"/>
            <a:ext cx="457200" cy="32004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0" y="2560320"/>
            <a:ext cx="2560320" cy="2560320"/>
          </a:xfrm>
          <a:prstGeom prst="rect">
            <a:avLst/>
          </a:prstGeom>
          <a:solidFill>
            <a:srgbClr val="2C3E50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2578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C40F"/>
                </a:solidFill>
                <a:latin typeface="Microsoft YaHei"/>
              </a:defRPr>
            </a:pPr>
            <a:r>
              <a:t>findContours 逐实例</a:t>
            </a:r>
          </a:p>
        </p:txBody>
      </p:sp>
      <p:sp>
        <p:nvSpPr>
          <p:cNvPr id="28" name="Oval 27"/>
          <p:cNvSpPr/>
          <p:nvPr/>
        </p:nvSpPr>
        <p:spPr>
          <a:xfrm>
            <a:off x="4023360" y="3017520"/>
            <a:ext cx="731520" cy="640080"/>
          </a:xfrm>
          <a:prstGeom prst="ellipse">
            <a:avLst/>
          </a:prstGeom>
          <a:noFill/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0" y="3291840"/>
            <a:ext cx="822960" cy="731520"/>
          </a:xfrm>
          <a:prstGeom prst="ellipse">
            <a:avLst/>
          </a:prstGeom>
          <a:noFill/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97680" y="4206240"/>
            <a:ext cx="914400" cy="548640"/>
          </a:xfrm>
          <a:prstGeom prst="ellipse">
            <a:avLst/>
          </a:prstGeom>
          <a:noFill/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6583680" y="3680460"/>
            <a:ext cx="457200" cy="320040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2560320"/>
            <a:ext cx="5029200" cy="2560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578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全局坐标系 → poly_map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017520"/>
            <a:ext cx="4663440" cy="1920240"/>
          </a:xfrm>
          <a:prstGeom prst="rect">
            <a:avLst/>
          </a:prstGeom>
          <a:solidFill>
            <a:srgbClr val="151528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80960" y="3291840"/>
            <a:ext cx="548640" cy="457200"/>
          </a:xfrm>
          <a:prstGeom prst="ellipse">
            <a:avLst/>
          </a:prstGeom>
          <a:noFill/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03920" y="3474720"/>
            <a:ext cx="640080" cy="548640"/>
          </a:xfrm>
          <a:prstGeom prst="ellipse">
            <a:avLst/>
          </a:prstGeom>
          <a:noFill/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80" y="4114800"/>
            <a:ext cx="731520" cy="457200"/>
          </a:xfrm>
          <a:prstGeom prst="ellipse">
            <a:avLst/>
          </a:prstGeom>
          <a:noFill/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92640" y="3200400"/>
            <a:ext cx="457200" cy="365760"/>
          </a:xfrm>
          <a:prstGeom prst="ellipse">
            <a:avLst/>
          </a:prstGeom>
          <a:noFill/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07040" y="3749040"/>
            <a:ext cx="548640" cy="457200"/>
          </a:xfrm>
          <a:prstGeom prst="ellipse">
            <a:avLst/>
          </a:prstGeom>
          <a:noFill/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49840" y="4206240"/>
            <a:ext cx="640080" cy="457200"/>
          </a:xfrm>
          <a:prstGeom prst="ellipse">
            <a:avLst/>
          </a:prstGeom>
          <a:noFill/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983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每个轮廓已转换为全局坐标，存入 poly_map[(row, col, inst_id)]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关键: 坐标偏移 coords[i] += (x_offset, y_offset)  ·  CHAIN_APPROX_NONE 保留所有轮廓点  ·  make_valid() 修复无效几何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A500"/>
                </a:solidFill>
                <a:latin typeface="Microsoft YaHei"/>
              </a:defRPr>
            </a:pPr>
            <a:r>
              <a:t>Pass 2: Overlap 像素匹配 + Union-Find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对每个 tile，检查 3 个方向的邻居: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4747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右邻 (row, col+1)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058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5F1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28800"/>
            <a:ext cx="1005840" cy="914400"/>
          </a:xfrm>
          <a:prstGeom prst="rect">
            <a:avLst/>
          </a:prstGeom>
          <a:solidFill>
            <a:srgbClr val="204464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84708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828800"/>
            <a:ext cx="274320" cy="9144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4EC5F1"/>
                </a:solidFill>
                <a:latin typeface="Consolas"/>
              </a:defRPr>
            </a:pPr>
            <a:r>
              <a:t>mask_a[:, 384:]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A500"/>
                </a:solidFill>
                <a:latin typeface="Consolas"/>
              </a:defRPr>
            </a:pPr>
            <a:r>
              <a:t>mask_b[:, :128]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300"/>
              </a:spcAft>
              <a:defRPr sz="900" b="1">
                <a:solidFill>
                  <a:srgbClr val="F1C40F"/>
                </a:solidFill>
                <a:latin typeface="Consolas"/>
              </a:defRPr>
            </a:pPr>
            <a:r>
              <a:t>both_fg = A&gt;0 &amp; B&gt;0</a:t>
            </a:r>
          </a:p>
          <a:p>
            <a:pPr algn="l">
              <a:spcAft>
                <a:spcPts val="300"/>
              </a:spcAft>
              <a:defRPr sz="900" b="1">
                <a:solidFill>
                  <a:srgbClr val="2ECC71"/>
                </a:solidFill>
                <a:latin typeface="Consolas"/>
              </a:defRPr>
            </a:pPr>
            <a:r>
              <a:t>→ union(gid_a, gid_b)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4747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417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下邻 (row+1, col)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737360"/>
            <a:ext cx="10058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5564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5F1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377440"/>
            <a:ext cx="1005840" cy="914400"/>
          </a:xfrm>
          <a:prstGeom prst="rect">
            <a:avLst/>
          </a:prstGeom>
          <a:solidFill>
            <a:srgbClr val="204464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3957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377440"/>
            <a:ext cx="1005840" cy="2743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783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4EC5F1"/>
                </a:solidFill>
                <a:latin typeface="Consolas"/>
              </a:defRPr>
            </a:pPr>
            <a:r>
              <a:t>mask_a[384:, :]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A500"/>
                </a:solidFill>
                <a:latin typeface="Consolas"/>
              </a:defRPr>
            </a:pPr>
            <a:r>
              <a:t>mask_b[:128, :]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300"/>
              </a:spcAft>
              <a:defRPr sz="900" b="1">
                <a:solidFill>
                  <a:srgbClr val="F1C40F"/>
                </a:solidFill>
                <a:latin typeface="Consolas"/>
              </a:defRPr>
            </a:pPr>
            <a:r>
              <a:t>both_fg = A&gt;0 &amp; B&gt;0</a:t>
            </a:r>
          </a:p>
          <a:p>
            <a:pPr algn="l">
              <a:spcAft>
                <a:spcPts val="300"/>
              </a:spcAft>
              <a:defRPr sz="900" b="1">
                <a:solidFill>
                  <a:srgbClr val="2ECC71"/>
                </a:solidFill>
                <a:latin typeface="Consolas"/>
              </a:defRPr>
            </a:pPr>
            <a:r>
              <a:t>→ union(gid_a, gid_b)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417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右下 (row+1, col+1)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691640"/>
            <a:ext cx="10058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709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5F1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2240280"/>
            <a:ext cx="1005840" cy="914400"/>
          </a:xfrm>
          <a:prstGeom prst="rect">
            <a:avLst/>
          </a:prstGeom>
          <a:solidFill>
            <a:srgbClr val="204464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2585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240280"/>
            <a:ext cx="457200" cy="36576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7830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4EC5F1"/>
                </a:solidFill>
                <a:latin typeface="Consolas"/>
              </a:defRPr>
            </a:pPr>
            <a:r>
              <a:t>mask_a[384:, 384:]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A500"/>
                </a:solidFill>
                <a:latin typeface="Consolas"/>
              </a:defRPr>
            </a:pPr>
            <a:r>
              <a:t>mask_b[:128, :128]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300"/>
              </a:spcAft>
              <a:defRPr sz="900" b="1">
                <a:solidFill>
                  <a:srgbClr val="F1C40F"/>
                </a:solidFill>
                <a:latin typeface="Consolas"/>
              </a:defRPr>
            </a:pPr>
            <a:r>
              <a:t>both_fg = A&gt;0 &amp; B&gt;0</a:t>
            </a:r>
          </a:p>
          <a:p>
            <a:pPr algn="l">
              <a:spcAft>
                <a:spcPts val="300"/>
              </a:spcAft>
              <a:defRPr sz="900" b="1">
                <a:solidFill>
                  <a:srgbClr val="2ECC71"/>
                </a:solidFill>
                <a:latin typeface="Consolas"/>
              </a:defRPr>
            </a:pPr>
            <a:r>
              <a:t>→ union(gid_a, gid_b)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566160"/>
            <a:ext cx="11612880" cy="2926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6118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A500"/>
                </a:solidFill>
                <a:latin typeface="Microsoft YaHei"/>
              </a:defRPr>
            </a:pPr>
            <a:r>
              <a:t>Union-Find 并查集: 将跨 tile 的同一细胞关联起来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合并前:</a:t>
            </a:r>
          </a:p>
        </p:txBody>
      </p:sp>
      <p:sp>
        <p:nvSpPr>
          <p:cNvPr id="31" name="Oval 30"/>
          <p:cNvSpPr/>
          <p:nvPr/>
        </p:nvSpPr>
        <p:spPr>
          <a:xfrm>
            <a:off x="1280160" y="4663440"/>
            <a:ext cx="411480" cy="411480"/>
          </a:xfrm>
          <a:prstGeom prst="ellipse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120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C5F1"/>
                </a:solidFill>
                <a:latin typeface="Consolas"/>
              </a:defRPr>
            </a:pPr>
            <a:r>
              <a:t>(0,0,3)</a:t>
            </a:r>
          </a:p>
        </p:txBody>
      </p:sp>
      <p:sp>
        <p:nvSpPr>
          <p:cNvPr id="33" name="Oval 32"/>
          <p:cNvSpPr/>
          <p:nvPr/>
        </p:nvSpPr>
        <p:spPr>
          <a:xfrm>
            <a:off x="2377440" y="4663440"/>
            <a:ext cx="411480" cy="4114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5120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A500"/>
                </a:solidFill>
                <a:latin typeface="Consolas"/>
              </a:defRPr>
            </a:pPr>
            <a:r>
              <a:t>(0,1,1)</a:t>
            </a:r>
          </a:p>
        </p:txBody>
      </p:sp>
      <p:sp>
        <p:nvSpPr>
          <p:cNvPr id="35" name="Oval 34"/>
          <p:cNvSpPr/>
          <p:nvPr/>
        </p:nvSpPr>
        <p:spPr>
          <a:xfrm>
            <a:off x="3474720" y="46634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5120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688"/>
                </a:solidFill>
                <a:latin typeface="Consolas"/>
              </a:defRPr>
            </a:pPr>
            <a:r>
              <a:t>(1,0,2)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0" y="4663440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120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onsolas"/>
              </a:defRPr>
            </a:pPr>
            <a:r>
              <a:t>(1,1,1)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486400" y="4709160"/>
            <a:ext cx="457200" cy="274320"/>
          </a:xfrm>
          <a:prstGeom prst="rightArrow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合并后:</a:t>
            </a:r>
          </a:p>
        </p:txBody>
      </p:sp>
      <p:sp>
        <p:nvSpPr>
          <p:cNvPr id="41" name="Oval 40"/>
          <p:cNvSpPr/>
          <p:nvPr/>
        </p:nvSpPr>
        <p:spPr>
          <a:xfrm>
            <a:off x="6858000" y="4663440"/>
            <a:ext cx="411480" cy="411480"/>
          </a:xfrm>
          <a:prstGeom prst="ellipse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51206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C5F1"/>
                </a:solidFill>
                <a:latin typeface="Consolas"/>
              </a:defRPr>
            </a:pPr>
            <a:r>
              <a:t>(0,0,3)</a:t>
            </a:r>
          </a:p>
        </p:txBody>
      </p:sp>
      <p:sp>
        <p:nvSpPr>
          <p:cNvPr id="43" name="Oval 42"/>
          <p:cNvSpPr/>
          <p:nvPr/>
        </p:nvSpPr>
        <p:spPr>
          <a:xfrm>
            <a:off x="7955280" y="4663440"/>
            <a:ext cx="411480" cy="4114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1206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A500"/>
                </a:solidFill>
                <a:latin typeface="Consolas"/>
              </a:defRPr>
            </a:pPr>
            <a:r>
              <a:t>(0,1,1)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846320"/>
            <a:ext cx="6858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0" y="5394960"/>
            <a:ext cx="2011680" cy="32004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4132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同一个细胞!</a:t>
            </a:r>
          </a:p>
        </p:txBody>
      </p:sp>
      <p:sp>
        <p:nvSpPr>
          <p:cNvPr id="48" name="Oval 47"/>
          <p:cNvSpPr/>
          <p:nvPr/>
        </p:nvSpPr>
        <p:spPr>
          <a:xfrm>
            <a:off x="9326880" y="46634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51206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688"/>
                </a:solidFill>
                <a:latin typeface="Consolas"/>
              </a:defRPr>
            </a:pPr>
            <a:r>
              <a:t>(1,0,2)</a:t>
            </a:r>
          </a:p>
        </p:txBody>
      </p:sp>
      <p:sp>
        <p:nvSpPr>
          <p:cNvPr id="50" name="Oval 49"/>
          <p:cNvSpPr/>
          <p:nvPr/>
        </p:nvSpPr>
        <p:spPr>
          <a:xfrm>
            <a:off x="10424160" y="4663440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512064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onsolas"/>
              </a:defRPr>
            </a:pPr>
            <a:r>
              <a:t>(1,1,1)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8360" y="4846320"/>
            <a:ext cx="6858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52560" y="5394960"/>
            <a:ext cx="2011680" cy="32004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54132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同一个细胞!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路径压缩: O(alpha(n)) 近常数时间  ·  小编号做 root 保持稳定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CC71"/>
                </a:solidFill>
                <a:latin typeface="Microsoft YaHei"/>
              </a:defRPr>
            </a:pPr>
            <a:r>
              <a:t>Pass 3: 多边形合并 + GeoJSON 导出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256032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按 root 分组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groups[root]</a:t>
            </a:r>
            <a:br/>
            <a:r>
              <a:t>.extend(polys)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80360" y="138074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005840"/>
            <a:ext cx="256032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C40F"/>
                </a:solidFill>
                <a:latin typeface="Microsoft YaHei"/>
              </a:defRPr>
            </a:pPr>
            <a:r>
              <a:t>unary_union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合并同组内</a:t>
            </a:r>
            <a:br/>
            <a:r>
              <a:t>所有多边形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138074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005840"/>
            <a:ext cx="256032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  <a:latin typeface="Microsoft YaHei"/>
              </a:defRPr>
            </a:pPr>
            <a:r>
              <a:t>过滤 + 简化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面积 &lt; min_area</a:t>
            </a:r>
            <a:br/>
            <a:r>
              <a:t>→ 丢弃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15400" y="138074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1005840"/>
            <a:ext cx="2560320" cy="100584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GeoJSON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371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QuPath Feature</a:t>
            </a:r>
            <a:br/>
            <a:r>
              <a:t>CD34+ 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377440"/>
            <a:ext cx="11612880" cy="411480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4231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  <a:latin typeface="Microsoft YaHei"/>
              </a:defRPr>
            </a:pPr>
            <a:r>
              <a:t>unary_union 效果示意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合并前 (来自 Tile A 和 Tile B):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291840"/>
            <a:ext cx="2286000" cy="1645920"/>
          </a:xfrm>
          <a:prstGeom prst="ellipse">
            <a:avLst/>
          </a:prstGeom>
          <a:solidFill>
            <a:srgbClr val="2C6FA0"/>
          </a:solidFill>
          <a:ln w="381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40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Poly A</a:t>
            </a:r>
            <a:br/>
            <a:r>
              <a:t>(Tile A)</a:t>
            </a:r>
          </a:p>
        </p:txBody>
      </p:sp>
      <p:sp>
        <p:nvSpPr>
          <p:cNvPr id="23" name="Oval 22"/>
          <p:cNvSpPr/>
          <p:nvPr/>
        </p:nvSpPr>
        <p:spPr>
          <a:xfrm>
            <a:off x="2103120" y="3474720"/>
            <a:ext cx="2286000" cy="1645920"/>
          </a:xfrm>
          <a:prstGeom prst="ellipse">
            <a:avLst/>
          </a:prstGeom>
          <a:solidFill>
            <a:srgbClr val="8B4413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4023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Poly B</a:t>
            </a:r>
            <a:br/>
            <a:r>
              <a:t>(Tile 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C40F"/>
                </a:solidFill>
                <a:latin typeface="Microsoft YaHei"/>
              </a:defRPr>
            </a:pPr>
            <a:r>
              <a:t>← 重叠区域 →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572000" y="3886200"/>
            <a:ext cx="731520" cy="4572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663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unary_</a:t>
            </a:r>
            <a:br/>
            <a:r>
              <a:t>union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合并后: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0" y="3291840"/>
            <a:ext cx="3200400" cy="1828800"/>
          </a:xfrm>
          <a:prstGeom prst="ellipse">
            <a:avLst/>
          </a:prstGeom>
          <a:solidFill>
            <a:srgbClr val="1B7E4E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749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完整的 Polygon</a:t>
            </a:r>
            <a:br/>
            <a:r>
              <a:t>无缝融合</a:t>
            </a:r>
            <a:br/>
            <a:r>
              <a:t>保持轮廓精度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26880" y="3977640"/>
            <a:ext cx="274320" cy="274320"/>
          </a:xfrm>
          <a:prstGeom prst="righ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3474720"/>
            <a:ext cx="2103120" cy="1645920"/>
          </a:xfrm>
          <a:prstGeom prst="roundRect">
            <a:avLst/>
          </a:prstGeom>
          <a:solidFill>
            <a:srgbClr val="1E1E35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6616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9B59B6"/>
                </a:solidFill>
                <a:latin typeface="Consolas"/>
              </a:defRPr>
            </a:pPr>
            <a:r>
              <a:t>.geojson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300"/>
              </a:spcAft>
              <a:defRPr sz="1000" b="0">
                <a:solidFill>
                  <a:srgbClr val="AAAAAA"/>
                </a:solidFill>
                <a:latin typeface="Consolas"/>
              </a:defRPr>
            </a:pPr>
            <a:r>
              <a:t>type: Feature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AAAAAA"/>
                </a:solidFill>
                <a:latin typeface="Consolas"/>
              </a:defRPr>
            </a:pPr>
            <a:r>
              <a:t>geometry: Polygon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AAAAAA"/>
                </a:solidFill>
                <a:latin typeface="Consolas"/>
              </a:defRPr>
            </a:pPr>
            <a:r>
              <a:t>classification: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2ECC71"/>
                </a:solidFill>
                <a:latin typeface="Consolas"/>
              </a:defRPr>
            </a:pPr>
            <a:r>
              <a:t>  name: CD34+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74C3C"/>
                </a:solidFill>
                <a:latin typeface="Consolas"/>
              </a:defRPr>
            </a:pPr>
            <a:r>
              <a:t>  color: [200,50,50]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C5F1"/>
                </a:solidFill>
                <a:latin typeface="Microsoft YaHei"/>
              </a:defRPr>
            </a:pPr>
            <a:r>
              <a:t>WSI Pipeline 完整流程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AAAAA"/>
                </a:solidFill>
                <a:latin typeface="Microsoft YaHei"/>
              </a:defRPr>
            </a:pPr>
            <a:r>
              <a:t>WSI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.ndpi/.svs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63624" y="1435608"/>
            <a:ext cx="118872" cy="146304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9164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EC5F1"/>
                </a:solidFill>
                <a:latin typeface="Microsoft YaHei"/>
              </a:defRPr>
            </a:pPr>
            <a:r>
              <a:t>切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512x512</a:t>
            </a:r>
            <a:br/>
            <a:r>
              <a:t>overlap=128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72384" y="1435608"/>
            <a:ext cx="118872" cy="146304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1C40F"/>
                </a:solidFill>
                <a:latin typeface="Microsoft YaHei"/>
              </a:defRPr>
            </a:pPr>
            <a:r>
              <a:t>YOLO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过滤背景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81144" y="1435608"/>
            <a:ext cx="118872" cy="146304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0"/>
                </a:solidFill>
                <a:latin typeface="Microsoft YaHei"/>
              </a:defRPr>
            </a:pPr>
            <a:r>
              <a:t>DeepLIIF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细胞分割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89904" y="1435608"/>
            <a:ext cx="118872" cy="146304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SAM2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实例分割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598664" y="1435608"/>
            <a:ext cx="118872" cy="146304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8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Microsoft YaHei"/>
              </a:defRPr>
            </a:pPr>
            <a:r>
              <a:t>合并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3-Pass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07424" y="1435608"/>
            <a:ext cx="118872" cy="146304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914400"/>
            <a:ext cx="1371600" cy="118872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59B6"/>
                </a:solidFill>
                <a:latin typeface="Microsoft YaHei"/>
              </a:defRPr>
            </a:pPr>
            <a:r>
              <a:t>GeoJSON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QuPath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321040" y="2194560"/>
            <a:ext cx="182880" cy="27432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4320" y="2743200"/>
            <a:ext cx="11612880" cy="38404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788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74C3C"/>
                </a:solidFill>
                <a:latin typeface="Microsoft YaHei"/>
              </a:defRPr>
            </a:pPr>
            <a:r>
              <a:t>Tile 合并阶段 (export_geojson) — Zoom 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383280"/>
            <a:ext cx="1645920" cy="118872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474720"/>
            <a:ext cx="137160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474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Consolas"/>
              </a:defRPr>
            </a:pPr>
            <a:r>
              <a:t>tile_0_0.npy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749040"/>
            <a:ext cx="137160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749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Consolas"/>
              </a:defRPr>
            </a:pPr>
            <a:r>
              <a:t>tile_1_0.npy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023360"/>
            <a:ext cx="137160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0233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Consolas"/>
              </a:defRPr>
            </a:pPr>
            <a:r>
              <a:t>tile_2_0.npy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297679"/>
            <a:ext cx="1371600" cy="201168"/>
          </a:xfrm>
          <a:prstGeom prst="rect">
            <a:avLst/>
          </a:prstGeom>
          <a:solidFill>
            <a:srgbClr val="2C3E50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29767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Consolas"/>
              </a:defRPr>
            </a:pPr>
            <a:r>
              <a:t>tile_3_0.npy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902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Microsoft YaHei"/>
              </a:defRPr>
            </a:pPr>
            <a:r>
              <a:t>npy_masks/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240280" y="384962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651760" y="3383280"/>
            <a:ext cx="2286000" cy="1188720"/>
          </a:xfrm>
          <a:prstGeom prst="roundRect">
            <a:avLst/>
          </a:prstGeom>
          <a:solidFill>
            <a:srgbClr val="1E1E35"/>
          </a:solidFill>
          <a:ln w="254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74720" y="3474720"/>
            <a:ext cx="457200" cy="457200"/>
          </a:xfrm>
          <a:prstGeom prst="ellipse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3525520"/>
            <a:ext cx="457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5F1"/>
                </a:solidFill>
                <a:latin typeface="Microsoft YaHei"/>
              </a:defRPr>
            </a:pPr>
            <a:r>
              <a:t>提取多边形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297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findContours → Polygon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4983480" y="384962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0" y="3383280"/>
            <a:ext cx="2286000" cy="1188720"/>
          </a:xfrm>
          <a:prstGeom prst="roundRect">
            <a:avLst/>
          </a:prstGeom>
          <a:solidFill>
            <a:srgbClr val="1E1E35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0" y="3474720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525520"/>
            <a:ext cx="457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Microsoft YaHei"/>
              </a:defRPr>
            </a:pPr>
            <a:r>
              <a:t>Union-Find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4297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overlap 像素匹配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726680" y="3849624"/>
            <a:ext cx="320040" cy="256032"/>
          </a:xfrm>
          <a:prstGeom prst="rightArrow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38160" y="3383280"/>
            <a:ext cx="2286000" cy="1188720"/>
          </a:xfrm>
          <a:prstGeom prst="roundRect">
            <a:avLst/>
          </a:prstGeom>
          <a:solidFill>
            <a:srgbClr val="1E1E3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61120" y="347472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0" y="3525520"/>
            <a:ext cx="457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1B2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合并导出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4297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unary_union → GeoJSON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10469880" y="3886200"/>
            <a:ext cx="182880" cy="182880"/>
          </a:xfrm>
          <a:prstGeom prst="righ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744200" y="3566160"/>
            <a:ext cx="1188720" cy="822960"/>
          </a:xfrm>
          <a:prstGeom prst="roundRect">
            <a:avLst/>
          </a:prstGeom>
          <a:solidFill>
            <a:srgbClr val="1E1E35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89920" y="36118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9B59B6"/>
                </a:solidFill>
                <a:latin typeface="Microsoft YaHei"/>
              </a:defRPr>
            </a:pPr>
            <a:r>
              <a:t>.geojson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spcAft>
                <a:spcPts val="300"/>
              </a:spcAft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QuPath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4937760"/>
            <a:ext cx="2560320" cy="118872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4EC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08760" y="5029200"/>
            <a:ext cx="411480" cy="411480"/>
          </a:xfrm>
          <a:prstGeom prst="ellipse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5F1"/>
                </a:solidFill>
                <a:latin typeface="Microsoft YaHei"/>
              </a:defRPr>
            </a:pPr>
            <a:r>
              <a:t>128px overlap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边界细胞不丢失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4937760"/>
            <a:ext cx="2560320" cy="118872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89120" y="5029200"/>
            <a:ext cx="411480" cy="4114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2900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Microsoft YaHei"/>
              </a:defRPr>
            </a:pPr>
            <a:r>
              <a:t>Union-Find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2900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O(alpha(n)) 合并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9359" y="4937760"/>
            <a:ext cx="2560320" cy="118872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269479" y="5029200"/>
            <a:ext cx="411480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59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不构建全局数组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359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内存友好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89719" y="4937760"/>
            <a:ext cx="2560320" cy="1188720"/>
          </a:xfrm>
          <a:prstGeom prst="roundRect">
            <a:avLst/>
          </a:prstGeom>
          <a:solidFill>
            <a:srgbClr val="1E1E35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49839" y="5029200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89719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Microsoft YaHei"/>
              </a:defRPr>
            </a:pPr>
            <a:r>
              <a:t>直接 QuPath 导入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89719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Microsoft YaHei"/>
              </a:defRPr>
            </a:pPr>
            <a:r>
              <a:t>CD34+ 检测标注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5F1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474720"/>
            <a:ext cx="3931920" cy="3810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export_geojson()  ·  cd34_pipeline/io/tile_reconstruction.py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