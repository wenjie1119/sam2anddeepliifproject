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2.jpg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3931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Microsoft YaHei"/>
              </a:defRPr>
            </a:pPr>
            <a:r>
              <a:t>当前结果先看结论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0">
                <a:solidFill>
                  <a:srgbClr val="5C6675"/>
                </a:solidFill>
                <a:latin typeface="Microsoft YaHei"/>
              </a:defRPr>
            </a:pPr>
            <a:r>
              <a:t>test08 已经能从 WSI 局部 ROI 自动生成 CD34 微血管实例 GeoJSON；下面再拆解每一步的输入、输出和代码逻辑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25296"/>
            <a:ext cx="6400800" cy="5202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region_geojson_over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455" y="1298448"/>
            <a:ext cx="4074609" cy="4837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" y="6199632"/>
            <a:ext cx="625449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最终结果：GeoJSON 微血管实例覆盖到原图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389888"/>
            <a:ext cx="1691640" cy="74980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0648" y="1508760"/>
            <a:ext cx="147218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800" b="1">
                <a:solidFill>
                  <a:srgbClr val="2B65B0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0648" y="1856232"/>
            <a:ext cx="1472184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50" b="0">
                <a:solidFill>
                  <a:srgbClr val="5C6675"/>
                </a:solidFill>
                <a:latin typeface="Microsoft YaHei"/>
              </a:defRPr>
            </a:pPr>
            <a:r>
              <a:t>处理 tile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389888"/>
            <a:ext cx="1691640" cy="749808"/>
          </a:xfrm>
          <a:prstGeom prst="roundRect">
            <a:avLst/>
          </a:prstGeom>
          <a:solidFill>
            <a:srgbClr val="FCEBE8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36608" y="1508760"/>
            <a:ext cx="147218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800" b="1">
                <a:solidFill>
                  <a:srgbClr val="9E352D"/>
                </a:solidFill>
                <a:latin typeface="Microsoft YaHei"/>
              </a:defRPr>
            </a:pPr>
            <a:r>
              <a:t>404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6608" y="1856232"/>
            <a:ext cx="1472184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50" b="0">
                <a:solidFill>
                  <a:srgbClr val="5C6675"/>
                </a:solidFill>
                <a:latin typeface="Microsoft YaHei"/>
              </a:defRPr>
            </a:pPr>
            <a:r>
              <a:t>最终实例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2359152"/>
            <a:ext cx="1691640" cy="749808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2478024"/>
            <a:ext cx="147218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800" b="1">
                <a:solidFill>
                  <a:srgbClr val="B67622"/>
                </a:solidFill>
                <a:latin typeface="Microsoft YaHei"/>
              </a:defRPr>
            </a:pPr>
            <a:r>
              <a:t>569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2825496"/>
            <a:ext cx="1472184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50" b="0">
                <a:solidFill>
                  <a:srgbClr val="5C6675"/>
                </a:solidFill>
                <a:latin typeface="Microsoft YaHei"/>
              </a:defRPr>
            </a:pPr>
            <a:r>
              <a:t>tile 内实例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359152"/>
            <a:ext cx="1691640" cy="749808"/>
          </a:xfrm>
          <a:prstGeom prst="roundRect">
            <a:avLst/>
          </a:prstGeom>
          <a:solidFill>
            <a:srgbClr val="E5F6E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2478024"/>
            <a:ext cx="147218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800" b="1">
                <a:solidFill>
                  <a:srgbClr val="2A875B"/>
                </a:solidFill>
                <a:latin typeface="Microsoft YaHei"/>
              </a:defRPr>
            </a:pPr>
            <a:r>
              <a:t>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2825496"/>
            <a:ext cx="1472184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50" b="0">
                <a:solidFill>
                  <a:srgbClr val="5C6675"/>
                </a:solidFill>
                <a:latin typeface="Microsoft YaHei"/>
              </a:defRPr>
            </a:pPr>
            <a:r>
              <a:t>跨 tile 合并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520440"/>
            <a:ext cx="38404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520440"/>
            <a:ext cx="64008" cy="1325880"/>
          </a:xfrm>
          <a:prstGeom prst="rect">
            <a:avLst/>
          </a:prstGeom>
          <a:solidFill>
            <a:srgbClr val="9E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3666744"/>
            <a:ext cx="352044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9E352D"/>
                </a:solidFill>
                <a:latin typeface="Microsoft YaHei"/>
              </a:defRPr>
            </a:pPr>
            <a:r>
              <a:t>当前结果说明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4023360"/>
            <a:ext cx="3520440" cy="7315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红色区域是最终导出的微血管实例轮廓。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结果来自 30 个 tile：12 个 core + 18 个 neighbor。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最终输出包含 GeoJSON、统计 CSV、区域级和单 tile 调试图。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074920"/>
            <a:ext cx="38404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0" y="5074920"/>
            <a:ext cx="64008" cy="1051560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5221224"/>
            <a:ext cx="352044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2B65B0"/>
                </a:solidFill>
                <a:latin typeface="Microsoft YaHei"/>
              </a:defRPr>
            </a:pPr>
            <a:r>
              <a:t>现阶段重点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5577840"/>
            <a:ext cx="352044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讲清楚每一步如何把图像变成 prompt、mask 和 GeoJSON。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同时指出小碎片较多，后处理仍需继续优化。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defRPr sz="850" b="0">
                <a:solidFill>
                  <a:srgbClr val="5C6675"/>
                </a:solidFill>
                <a:latin typeface="Microsoft YaHei"/>
              </a:defRPr>
            </a:pPr>
            <a:r>
              <a:t>debug_output/test08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3931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Microsoft YaHei"/>
              </a:defRPr>
            </a:pPr>
            <a:r>
              <a:t>整体流程：从 ROI tile 到 GeoJSON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0">
                <a:solidFill>
                  <a:srgbClr val="5C6675"/>
                </a:solidFill>
                <a:latin typeface="Microsoft YaHei"/>
              </a:defRPr>
            </a:pPr>
            <a:r>
              <a:t>主线代码在 cell/main.py：Producer 负责 DeepLIIF + prompt，Consumer 负责 SAM2 + 后处理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17320"/>
            <a:ext cx="1572768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B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45336"/>
            <a:ext cx="137160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200" b="1">
                <a:solidFill>
                  <a:srgbClr val="2B65B0"/>
                </a:solidFill>
                <a:latin typeface="Microsoft YaHei"/>
              </a:defRPr>
            </a:pPr>
            <a:r>
              <a:t>1 选 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9656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880" b="0">
                <a:solidFill>
                  <a:srgbClr val="1F2937"/>
                </a:solidFill>
                <a:latin typeface="Microsoft YaHei"/>
              </a:defRPr>
            </a:pPr>
            <a:r>
              <a:t>ROI/debug region</a:t>
            </a:r>
            <a:br/>
            <a:r>
              <a:t>选中原图 tile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31136" y="1764792"/>
            <a:ext cx="237744" cy="201168"/>
          </a:xfrm>
          <a:prstGeom prst="rightArrow">
            <a:avLst/>
          </a:prstGeom>
          <a:solidFill>
            <a:srgbClr val="5C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14600" y="1417320"/>
            <a:ext cx="1572768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A8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545336"/>
            <a:ext cx="137160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200" b="1">
                <a:solidFill>
                  <a:srgbClr val="2A875B"/>
                </a:solidFill>
                <a:latin typeface="Microsoft YaHei"/>
              </a:defRPr>
            </a:pPr>
            <a:r>
              <a:t>2 DeepLIIF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819656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880" b="0">
                <a:solidFill>
                  <a:srgbClr val="1F2937"/>
                </a:solidFill>
                <a:latin typeface="Microsoft YaHei"/>
              </a:defRPr>
            </a:pPr>
            <a:r>
              <a:t>原图 tile -&gt; Seg / Marker / DAPI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23944" y="1764792"/>
            <a:ext cx="237744" cy="201168"/>
          </a:xfrm>
          <a:prstGeom prst="rightArrow">
            <a:avLst/>
          </a:prstGeom>
          <a:solidFill>
            <a:srgbClr val="5C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7" y="1417320"/>
            <a:ext cx="1572768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67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7" y="1545336"/>
            <a:ext cx="137160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200" b="1">
                <a:solidFill>
                  <a:srgbClr val="B67622"/>
                </a:solidFill>
                <a:latin typeface="Microsoft YaHei"/>
              </a:defRPr>
            </a:pPr>
            <a:r>
              <a:t>3 weighted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7" y="1819656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880" b="0">
                <a:solidFill>
                  <a:srgbClr val="1F2937"/>
                </a:solidFill>
                <a:latin typeface="Microsoft YaHei"/>
              </a:defRPr>
            </a:pPr>
            <a:r>
              <a:t>Seg/Marker/DAB/DAPI</a:t>
            </a:r>
            <a:br/>
            <a:r>
              <a:t>-&gt; mask_input + points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16751" y="1764792"/>
            <a:ext cx="237744" cy="201168"/>
          </a:xfrm>
          <a:prstGeom prst="rightArrow">
            <a:avLst/>
          </a:prstGeom>
          <a:solidFill>
            <a:srgbClr val="5C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0215" y="1417320"/>
            <a:ext cx="1572768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E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5" y="1545336"/>
            <a:ext cx="137160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200" b="1">
                <a:solidFill>
                  <a:srgbClr val="9E352D"/>
                </a:solidFill>
                <a:latin typeface="Microsoft YaHei"/>
              </a:defRPr>
            </a:pPr>
            <a:r>
              <a:t>4 SAM2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5" y="1819656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880" b="0">
                <a:solidFill>
                  <a:srgbClr val="1F2937"/>
                </a:solidFill>
                <a:latin typeface="Microsoft YaHei"/>
              </a:defRPr>
            </a:pPr>
            <a:r>
              <a:t>mask_input + points</a:t>
            </a:r>
            <a:br/>
            <a:r>
              <a:t>-&gt; raw mask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09559" y="1764792"/>
            <a:ext cx="237744" cy="201168"/>
          </a:xfrm>
          <a:prstGeom prst="rightArrow">
            <a:avLst/>
          </a:prstGeom>
          <a:solidFill>
            <a:srgbClr val="5C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93023" y="1417320"/>
            <a:ext cx="1572768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4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3" y="1545336"/>
            <a:ext cx="137160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200" b="1">
                <a:solidFill>
                  <a:srgbClr val="6B4FA9"/>
                </a:solidFill>
                <a:latin typeface="Microsoft YaHei"/>
              </a:defRPr>
            </a:pPr>
            <a:r>
              <a:t>5 merge/postprocess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1819656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880" b="0">
                <a:solidFill>
                  <a:srgbClr val="1F2937"/>
                </a:solidFill>
                <a:latin typeface="Microsoft YaHei"/>
              </a:defRPr>
            </a:pPr>
            <a:r>
              <a:t>raw mask</a:t>
            </a:r>
            <a:br/>
            <a:r>
              <a:t>-&gt; tile 实例 mask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802367" y="1764792"/>
            <a:ext cx="237744" cy="201168"/>
          </a:xfrm>
          <a:prstGeom prst="rightArrow">
            <a:avLst/>
          </a:prstGeom>
          <a:solidFill>
            <a:srgbClr val="5C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85832" y="1417320"/>
            <a:ext cx="1572768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2" y="1545336"/>
            <a:ext cx="137160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</a:defRPr>
            </a:pPr>
            <a:r>
              <a:t>6 stitching/export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7272" y="1819656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880" b="0">
                <a:solidFill>
                  <a:srgbClr val="1F2937"/>
                </a:solidFill>
                <a:latin typeface="Microsoft YaHei"/>
              </a:defRPr>
            </a:pPr>
            <a:r>
              <a:t>tile 实例</a:t>
            </a:r>
            <a:br/>
            <a:r>
              <a:t>-&gt; GeoJSON + stats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2971800"/>
            <a:ext cx="2743200" cy="2779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01_region_original_mosa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3" y="3044952"/>
            <a:ext cx="2033453" cy="241401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58952" y="5522976"/>
            <a:ext cx="259689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输入 ROI 原图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39312" y="2971800"/>
            <a:ext cx="2743200" cy="2779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8_stitched_deepliif_se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835" y="3044952"/>
            <a:ext cx="2012153" cy="241401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712464" y="5522976"/>
            <a:ext cx="259689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DeepLIIF Seg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2971800"/>
            <a:ext cx="2194560" cy="2779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tep3_22_weighted_mask_input_25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227832"/>
            <a:ext cx="2048256" cy="20482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56832" y="5522976"/>
            <a:ext cx="204825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SAM2 mask_input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6840" y="2971800"/>
            <a:ext cx="2560320" cy="2779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05_region_geojson_overla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0273" y="3044952"/>
            <a:ext cx="2033453" cy="241401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079992" y="5522976"/>
            <a:ext cx="241401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最终 GeoJSON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defRPr sz="850" b="0">
                <a:solidFill>
                  <a:srgbClr val="5C6675"/>
                </a:solidFill>
                <a:latin typeface="Microsoft YaHei"/>
              </a:defRPr>
            </a:pPr>
            <a:r>
              <a:t>核心编排：cell/main.py Producer._extract_one(), Consumer._run_impl(), PostProcessor.export_geojson()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3931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Microsoft YaHei"/>
              </a:defRPr>
            </a:pPr>
            <a:r>
              <a:t>步骤 1：ROI / debug region 选 tile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0">
                <a:solidFill>
                  <a:srgbClr val="5C6675"/>
                </a:solidFill>
                <a:latin typeface="Microsoft YaHei"/>
              </a:defRPr>
            </a:pPr>
            <a:r>
              <a:t>功能：只处理目标区域附近的 tile，并加入邻域 tile 解决边界上下文不足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983480" cy="65836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35024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50" b="1">
                <a:solidFill>
                  <a:srgbClr val="2B65B0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335024"/>
            <a:ext cx="3794760" cy="3474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30" b="0">
                <a:solidFill>
                  <a:srgbClr val="1F2937"/>
                </a:solidFill>
                <a:latin typeface="Microsoft YaHei"/>
              </a:defRPr>
            </a:pPr>
            <a:r>
              <a:t>WSI 路径 + ROI/debug-region 坐标 + tile_size/overlap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207008"/>
            <a:ext cx="4983480" cy="658368"/>
          </a:xfrm>
          <a:prstGeom prst="roundRect">
            <a:avLst/>
          </a:prstGeom>
          <a:solidFill>
            <a:srgbClr val="E5F6E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35024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50" b="1">
                <a:solidFill>
                  <a:srgbClr val="2A875B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335024"/>
            <a:ext cx="3794760" cy="3474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30" b="0">
                <a:solidFill>
                  <a:srgbClr val="1F2937"/>
                </a:solidFill>
                <a:latin typeface="Microsoft YaHei"/>
              </a:defRPr>
            </a:pPr>
            <a:r>
              <a:t>selected_tiles.csv + metadata.json + 后续待处理 tile 列表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33872" y="1389888"/>
            <a:ext cx="438912" cy="292608"/>
          </a:xfrm>
          <a:prstGeom prst="rightArrow">
            <a:avLst/>
          </a:prstGeom>
          <a:solidFill>
            <a:srgbClr val="5C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2148840"/>
            <a:ext cx="4709160" cy="3877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1_region_original_mosa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504" y="2221992"/>
            <a:ext cx="2957750" cy="35112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" y="5797296"/>
            <a:ext cx="456285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区域原图 mosaic：可看到 tile 网格和 ROI 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2148840"/>
            <a:ext cx="26060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2148840"/>
            <a:ext cx="64008" cy="1508760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95144"/>
            <a:ext cx="22860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2B65B0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651760"/>
            <a:ext cx="2286000" cy="914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按 ROI bbox 找到相交 tile。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加入 neighbor_radius=1 的外圈 tile。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记录 row/col/x/y/level0 坐标，后面用于拼接和导出全局坐标。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2148840"/>
            <a:ext cx="2697480" cy="1508760"/>
          </a:xfrm>
          <a:prstGeom prst="roundRect">
            <a:avLst/>
          </a:prstGeom>
          <a:solidFill>
            <a:srgbClr val="FDFDF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5672" y="2276856"/>
            <a:ext cx="237744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250" b="1">
                <a:solidFill>
                  <a:srgbClr val="111827"/>
                </a:solidFill>
                <a:latin typeface="Microsoft YaHei"/>
              </a:defRPr>
            </a:pPr>
            <a:r>
              <a:t>相关代码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569464"/>
            <a:ext cx="23774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2D3748"/>
                </a:solidFill>
                <a:latin typeface="Consolas"/>
              </a:defRPr>
            </a:pPr>
            <a:r>
              <a:t>enumerate_debug_region_tiles(...)</a:t>
            </a:r>
            <a:br/>
            <a:r>
              <a:t>write selected_tiles.csv</a:t>
            </a:r>
            <a:br/>
            <a:r>
              <a:t>metadata: tile_size, overlap,</a:t>
            </a:r>
            <a:br/>
            <a:r>
              <a:t>          stride, crop_origin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3931920"/>
            <a:ext cx="557784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0" y="3931920"/>
            <a:ext cx="64008" cy="137160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4078224"/>
            <a:ext cx="52578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2A875B"/>
                </a:solidFill>
                <a:latin typeface="Microsoft YaHei"/>
              </a:defRPr>
            </a:pPr>
            <a:r>
              <a:t>test08 参数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434840"/>
            <a:ext cx="5257800" cy="777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tile_size=512，overlap=128，stride=384。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选中 30 个 tile，其中 core=12，neighbor=18。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mpp=0.2264 um/px，后续 GeoJSON 坐标会回到 level-0 坐标系。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defRPr sz="850" b="0">
                <a:solidFill>
                  <a:srgbClr val="5C6675"/>
                </a:solidFill>
                <a:latin typeface="Microsoft YaHei"/>
              </a:defRPr>
            </a:pPr>
            <a:r>
              <a:t>输入输出文件：debug_region/selected_tiles.csv, debug_region/metadata.json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3931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Microsoft YaHei"/>
              </a:defRPr>
            </a:pPr>
            <a:r>
              <a:t>步骤 2：DeepLIIF 生成结构和染色线索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0">
                <a:solidFill>
                  <a:srgbClr val="5C6675"/>
                </a:solidFill>
                <a:latin typeface="Microsoft YaHei"/>
              </a:defRPr>
            </a:pPr>
            <a:r>
              <a:t>功能：把原始 CD34 IHC tile 转成模型后续可用的 Seg、Marker、DAPI 通道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4983480" cy="65836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71016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50" b="1">
                <a:solidFill>
                  <a:srgbClr val="2B65B0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271016"/>
            <a:ext cx="3794760" cy="3474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30" b="0">
                <a:solidFill>
                  <a:srgbClr val="1F2937"/>
                </a:solidFill>
                <a:latin typeface="Microsoft YaHei"/>
              </a:defRPr>
            </a:pPr>
            <a:r>
              <a:t>PIL tile 图像 batch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143000"/>
            <a:ext cx="4983480" cy="658368"/>
          </a:xfrm>
          <a:prstGeom prst="roundRect">
            <a:avLst/>
          </a:prstGeom>
          <a:solidFill>
            <a:srgbClr val="E5F6E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71016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50" b="1">
                <a:solidFill>
                  <a:srgbClr val="2A875B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271016"/>
            <a:ext cx="3794760" cy="3474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30" b="0">
                <a:solidFill>
                  <a:srgbClr val="1F2937"/>
                </a:solidFill>
                <a:latin typeface="Microsoft YaHei"/>
              </a:defRPr>
            </a:pPr>
            <a:r>
              <a:t>每个 tile 的 Seg / Marker / DAPI 图像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33872" y="1325880"/>
            <a:ext cx="438912" cy="292608"/>
          </a:xfrm>
          <a:prstGeom prst="rightArrow">
            <a:avLst/>
          </a:prstGeom>
          <a:solidFill>
            <a:srgbClr val="5C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2057400"/>
            <a:ext cx="2331720" cy="2779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tep1_orig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44852"/>
            <a:ext cx="2185416" cy="2185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" y="4608576"/>
            <a:ext cx="218541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输入：原图 tile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2057400"/>
            <a:ext cx="2331720" cy="2779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ep2_01_deepliif_Se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2244852"/>
            <a:ext cx="2185416" cy="21854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19272" y="4608576"/>
            <a:ext cx="218541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输出：Seg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2057400"/>
            <a:ext cx="2331720" cy="2779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tep2_02_deepliif_Mark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2244852"/>
            <a:ext cx="2185416" cy="21854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79592" y="4608576"/>
            <a:ext cx="218541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输出：Marker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2057400"/>
            <a:ext cx="2331720" cy="2779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tep2_03_deepliif_DAP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2244852"/>
            <a:ext cx="2185416" cy="21854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39912" y="4608576"/>
            <a:ext cx="218541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输出：DAPI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074920"/>
            <a:ext cx="38404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5074920"/>
            <a:ext cx="64008" cy="91440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221224"/>
            <a:ext cx="352044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2A875B"/>
                </a:solidFill>
                <a:latin typeface="Microsoft YaHei"/>
              </a:defRPr>
            </a:pPr>
            <a:r>
              <a:t>每个输出的作用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577840"/>
            <a:ext cx="352044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Seg：提供组织/细胞边界和结构阳性线索。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Marker：提供 CD34 阳性染色强度线索。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DAPI：辅助识别无核管腔/腔隙区域。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5074920"/>
            <a:ext cx="2926080" cy="914400"/>
          </a:xfrm>
          <a:prstGeom prst="roundRect">
            <a:avLst/>
          </a:prstGeom>
          <a:solidFill>
            <a:srgbClr val="FDFDF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48072" y="5202936"/>
            <a:ext cx="260604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250" b="1">
                <a:solidFill>
                  <a:srgbClr val="111827"/>
                </a:solidFill>
                <a:latin typeface="Microsoft YaHei"/>
              </a:defRPr>
            </a:pPr>
            <a:r>
              <a:t>cell/deepliif.py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549554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2D3748"/>
                </a:solidFill>
                <a:latin typeface="Consolas"/>
              </a:defRPr>
            </a:pPr>
            <a:r>
              <a:t>DeepLIIFProcessor.process_batch(</a:t>
            </a:r>
            <a:br/>
            <a:r>
              <a:t>    tile_pils, batch_size, resolution)</a:t>
            </a:r>
            <a:br/>
            <a:r>
              <a:t>return [{'Seg','Marker','DAPI'}]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5074920"/>
            <a:ext cx="28803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5074920"/>
            <a:ext cx="64008" cy="914400"/>
          </a:xfrm>
          <a:prstGeom prst="rect">
            <a:avLst/>
          </a:prstGeom>
          <a:solidFill>
            <a:srgbClr val="B67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59" y="5221224"/>
            <a:ext cx="25603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B67622"/>
                </a:solidFill>
                <a:latin typeface="Microsoft YaHei"/>
              </a:defRPr>
            </a:pPr>
            <a:r>
              <a:t>关键点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9" y="5577840"/>
            <a:ext cx="256032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DeepLIIF 不直接给最终血管实例，只给后续 prompt 构建所需的中间证据。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这些中间图会保存为 debug_vis step2。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defRPr sz="850" b="0">
                <a:solidFill>
                  <a:srgbClr val="5C6675"/>
                </a:solidFill>
                <a:latin typeface="Microsoft YaHei"/>
              </a:defRPr>
            </a:pPr>
            <a:r>
              <a:t>主调用：cell/main.py Producer._extract_one() -&gt; DeepLIIFProcessor.process_batch()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3931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Microsoft YaHei"/>
              </a:defRPr>
            </a:pPr>
            <a:r>
              <a:t>步骤 3：从 Seg / Marker 提取阳性候选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0">
                <a:solidFill>
                  <a:srgbClr val="5C6675"/>
                </a:solidFill>
                <a:latin typeface="Microsoft YaHei"/>
              </a:defRPr>
            </a:pPr>
            <a:r>
              <a:t>功能：把 DeepLIIF 的彩色通道变成可计算的阳性区域，为 weighted prompt 打底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4983480" cy="65836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25296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50" b="1">
                <a:solidFill>
                  <a:srgbClr val="2B65B0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225296"/>
            <a:ext cx="3794760" cy="3474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30" b="0">
                <a:solidFill>
                  <a:srgbClr val="1F2937"/>
                </a:solidFill>
                <a:latin typeface="Microsoft YaHei"/>
              </a:defRPr>
            </a:pPr>
            <a:r>
              <a:t>Seg RGB + Marker 灰度/颜色强度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097280"/>
            <a:ext cx="4983480" cy="658368"/>
          </a:xfrm>
          <a:prstGeom prst="roundRect">
            <a:avLst/>
          </a:prstGeom>
          <a:solidFill>
            <a:srgbClr val="E5F6E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25296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50" b="1">
                <a:solidFill>
                  <a:srgbClr val="2A875B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225296"/>
            <a:ext cx="3794760" cy="3474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30" b="0">
                <a:solidFill>
                  <a:srgbClr val="1F2937"/>
                </a:solidFill>
                <a:latin typeface="Microsoft YaHei"/>
              </a:defRPr>
            </a:pPr>
            <a:r>
              <a:t>seg_logits + marker_logits + 初始阳性支持区域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33872" y="1280160"/>
            <a:ext cx="438912" cy="292608"/>
          </a:xfrm>
          <a:prstGeom prst="rightArrow">
            <a:avLst/>
          </a:prstGeom>
          <a:solidFill>
            <a:srgbClr val="5C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993392"/>
            <a:ext cx="3063240" cy="2642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tep2_03_seg_positive_r_intensity_cur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394712"/>
            <a:ext cx="2916936" cy="162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" y="4407408"/>
            <a:ext cx="291693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Seg 红色强度分布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3063240" cy="2642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ep2_04_marker_nonzero_intensity_curv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1" y="2394712"/>
            <a:ext cx="2916936" cy="1620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050791" y="4407408"/>
            <a:ext cx="291693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Marker 非零强度分布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993392"/>
            <a:ext cx="3063240" cy="2642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tep3_01_weighted_raw_heatma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2066544"/>
            <a:ext cx="2276856" cy="22768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42632" y="4407408"/>
            <a:ext cx="291693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Seg/Marker 融合初始热图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00600"/>
            <a:ext cx="33375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800600"/>
            <a:ext cx="64008" cy="1097280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946904"/>
            <a:ext cx="30175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2B65B0"/>
                </a:solidFill>
                <a:latin typeface="Microsoft YaHei"/>
              </a:defRPr>
            </a:pPr>
            <a:r>
              <a:t>Seg 逻辑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303520"/>
            <a:ext cx="301752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foreground = (R+B &gt; seg_thresh) 且 G 不太高。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R &gt;= B 认为是阳性方向，B &gt; R 认为偏阴性。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按红色强度映射到 -5..5 logits。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4800600"/>
            <a:ext cx="33375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4800600"/>
            <a:ext cx="64008" cy="109728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946904"/>
            <a:ext cx="30175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2A875B"/>
                </a:solidFill>
                <a:latin typeface="Microsoft YaHei"/>
              </a:defRPr>
            </a:pPr>
            <a:r>
              <a:t>Marker 逻辑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303520"/>
            <a:ext cx="301752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marker_thresh 不固定时，用 two-stage Multi-Otsu 自动估计。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Marker &gt; threshold 的像素按强度映射到 1..5 logits。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示例 tile 阈值=25，来源=auto_two_stage_multiotsu。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800600"/>
            <a:ext cx="3246120" cy="1097280"/>
          </a:xfrm>
          <a:prstGeom prst="roundRect">
            <a:avLst/>
          </a:prstGeom>
          <a:solidFill>
            <a:srgbClr val="FDFDF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4928616"/>
            <a:ext cx="292608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250" b="1">
                <a:solidFill>
                  <a:srgbClr val="111827"/>
                </a:solidFill>
                <a:latin typeface="Microsoft YaHei"/>
              </a:defRPr>
            </a:pPr>
            <a:r>
              <a:t>weighted_prompt.py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221224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2D3748"/>
                </a:solidFill>
                <a:latin typeface="Consolas"/>
              </a:defRPr>
            </a:pPr>
            <a:r>
              <a:t>_seg_logits(seg, config)</a:t>
            </a:r>
            <a:br/>
            <a:r>
              <a:t>_marker_logits(marker, config)</a:t>
            </a:r>
            <a:br/>
            <a:r>
              <a:t>pre_dab_raw = maximum(</a:t>
            </a:r>
            <a:br/>
            <a:r>
              <a:t>    seg_logits, marker_logits)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defRPr sz="850" b="0">
                <a:solidFill>
                  <a:srgbClr val="5C6675"/>
                </a:solidFill>
                <a:latin typeface="Microsoft YaHei"/>
              </a:defRPr>
            </a:pPr>
            <a:r>
              <a:t>debug_output/test08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3931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Microsoft YaHei"/>
              </a:defRPr>
            </a:pPr>
            <a:r>
              <a:t>步骤 4：构建 weighted prompt 的核心逻辑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0">
                <a:solidFill>
                  <a:srgbClr val="5C6675"/>
                </a:solidFill>
                <a:latin typeface="Microsoft YaHei"/>
              </a:defRPr>
            </a:pPr>
            <a:r>
              <a:t>功能：用原图 DAB 强度约束假阳性，同时补回强阳性和管腔相关提示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042415"/>
            <a:ext cx="4983480" cy="65836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70431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50" b="1">
                <a:solidFill>
                  <a:srgbClr val="2B65B0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170431"/>
            <a:ext cx="3794760" cy="3474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30" b="0">
                <a:solidFill>
                  <a:srgbClr val="1F2937"/>
                </a:solidFill>
                <a:latin typeface="Microsoft YaHei"/>
              </a:defRPr>
            </a:pPr>
            <a:r>
              <a:t>初始 logits + 原图 RGB + DAPI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042415"/>
            <a:ext cx="4983480" cy="658368"/>
          </a:xfrm>
          <a:prstGeom prst="roundRect">
            <a:avLst/>
          </a:prstGeom>
          <a:solidFill>
            <a:srgbClr val="E5F6E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170431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50" b="1">
                <a:solidFill>
                  <a:srgbClr val="2A875B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170431"/>
            <a:ext cx="3794760" cy="3474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30" b="0">
                <a:solidFill>
                  <a:srgbClr val="1F2937"/>
                </a:solidFill>
                <a:latin typeface="Microsoft YaHei"/>
              </a:defRPr>
            </a:pPr>
            <a:r>
              <a:t>清洗后的 logits、256x256 mask_input、positive point prompts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33872" y="1225295"/>
            <a:ext cx="438912" cy="292608"/>
          </a:xfrm>
          <a:prstGeom prst="rightArrow">
            <a:avLst/>
          </a:prstGeom>
          <a:solidFill>
            <a:srgbClr val="5C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2148840" cy="2368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tep3_02_weighted_dab_intens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47671"/>
            <a:ext cx="2002536" cy="20025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" y="4014215"/>
            <a:ext cx="200253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DAB 强度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1874519"/>
            <a:ext cx="2148840" cy="2368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ep3_06_weighted_dab_filter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1947671"/>
            <a:ext cx="2002536" cy="20025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44952" y="4014215"/>
            <a:ext cx="200253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DAB 过滤 overlay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9240" y="1874519"/>
            <a:ext cx="2148840" cy="2368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tep3_16_weighted_artifact_decision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92" y="1947671"/>
            <a:ext cx="2002536" cy="20025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22392" y="4014215"/>
            <a:ext cx="200253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伪影判断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1874519"/>
            <a:ext cx="2148840" cy="2368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tep3_21_weighted_final_overla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31" y="1947671"/>
            <a:ext cx="2002536" cy="20025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99831" y="4014215"/>
            <a:ext cx="200253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最终 prompt overlay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1874519"/>
            <a:ext cx="1417320" cy="2368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tep3_22_weighted_mask_input_25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7272" y="2313431"/>
            <a:ext cx="1271016" cy="127101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177272" y="4014215"/>
            <a:ext cx="127101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mask_input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498848"/>
            <a:ext cx="274320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4498848"/>
            <a:ext cx="64008" cy="1353312"/>
          </a:xfrm>
          <a:prstGeom prst="rect">
            <a:avLst/>
          </a:prstGeom>
          <a:solidFill>
            <a:srgbClr val="9E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645152"/>
            <a:ext cx="242316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9E352D"/>
                </a:solidFill>
                <a:latin typeface="Microsoft YaHei"/>
              </a:defRPr>
            </a:pPr>
            <a:r>
              <a:t>DAB 过滤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001768"/>
            <a:ext cx="2423160" cy="7589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把原图 RGB 转 HED-DAB，并按 99.5 分位归一化。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DAB &lt; 125 的 prompt 像素被压掉。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本 tile 移除 12756 px，保留 31432 px。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4498848"/>
            <a:ext cx="274320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4498848"/>
            <a:ext cx="64008" cy="1353312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0" y="4645152"/>
            <a:ext cx="242316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2A875B"/>
                </a:solidFill>
                <a:latin typeface="Microsoft YaHei"/>
              </a:defRPr>
            </a:pPr>
            <a:r>
              <a:t>补强逻辑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001768"/>
            <a:ext cx="2423160" cy="7589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强 DAB 像素可以新增或升级 prompt logit。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本 tile 新增 23013 px，升级 13700 px。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DAPI/DAB lumen 检测用于给管腔内部加点或弱填充。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4498848"/>
            <a:ext cx="4617720" cy="1353312"/>
          </a:xfrm>
          <a:prstGeom prst="roundRect">
            <a:avLst/>
          </a:prstGeom>
          <a:solidFill>
            <a:srgbClr val="FDFDF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93992" y="4626864"/>
            <a:ext cx="429768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250" b="1">
                <a:solidFill>
                  <a:srgbClr val="111827"/>
                </a:solidFill>
                <a:latin typeface="Microsoft YaHei"/>
              </a:defRPr>
            </a:pPr>
            <a:r>
              <a:t>build_weighted_prompt()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919472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2D3748"/>
                </a:solidFill>
                <a:latin typeface="Consolas"/>
              </a:defRPr>
            </a:pPr>
            <a:r>
              <a:t>filtered = _suppress_weak_dab_prompt(...)</a:t>
            </a:r>
            <a:br/>
            <a:r>
              <a:t>raw = _add_strong_dab_prompt_support(...)</a:t>
            </a:r>
            <a:br/>
            <a:r>
              <a:t>artifact_filtered = _suppress_artifacts(...)</a:t>
            </a:r>
            <a:br/>
            <a:r>
              <a:t>cleaned = _suppress_small_fragments(...)</a:t>
            </a:r>
            <a:br/>
            <a:r>
              <a:t>lowres_logits = _max_pool_lowres(final, 256)</a:t>
            </a:r>
            <a:br/>
            <a:r>
              <a:t>points = _strong_positive_points(final, ...)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defRPr sz="850" b="0">
                <a:solidFill>
                  <a:srgbClr val="5C6675"/>
                </a:solidFill>
                <a:latin typeface="Microsoft YaHei"/>
              </a:defRPr>
            </a:pPr>
            <a:r>
              <a:t>重点：SAM2 输入不是二值图，而是 -5..5 的加权 logits + 少量强阳性点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3931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Microsoft YaHei"/>
              </a:defRPr>
            </a:pPr>
            <a:r>
              <a:t>步骤 5：SAM2 根据 weighted prompt 精细化边界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0">
                <a:solidFill>
                  <a:srgbClr val="5C6675"/>
                </a:solidFill>
                <a:latin typeface="Microsoft YaHei"/>
              </a:defRPr>
            </a:pPr>
            <a:r>
              <a:t>功能：用 mask_input 给 SAM2 一个形状先验，再用 positive points 固定强阳性位置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4983480" cy="65836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07008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50" b="1">
                <a:solidFill>
                  <a:srgbClr val="2B65B0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207008"/>
            <a:ext cx="3794760" cy="3474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30" b="0">
                <a:solidFill>
                  <a:srgbClr val="1F2937"/>
                </a:solidFill>
                <a:latin typeface="Microsoft YaHei"/>
              </a:defRPr>
            </a:pPr>
            <a:r>
              <a:t>tile RGB + mask_input(1x256x256 logits) + point_coords/labels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078992"/>
            <a:ext cx="4983480" cy="658368"/>
          </a:xfrm>
          <a:prstGeom prst="roundRect">
            <a:avLst/>
          </a:prstGeom>
          <a:solidFill>
            <a:srgbClr val="E5F6E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07008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50" b="1">
                <a:solidFill>
                  <a:srgbClr val="2A875B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207008"/>
            <a:ext cx="3794760" cy="3474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30" b="0">
                <a:solidFill>
                  <a:srgbClr val="1F2937"/>
                </a:solidFill>
                <a:latin typeface="Microsoft YaHei"/>
              </a:defRPr>
            </a:pPr>
            <a:r>
              <a:t>SAM2 candidates + best mask + scores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33872" y="1261872"/>
            <a:ext cx="438912" cy="292608"/>
          </a:xfrm>
          <a:prstGeom prst="rightArrow">
            <a:avLst/>
          </a:prstGeom>
          <a:solidFill>
            <a:srgbClr val="5C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965960"/>
            <a:ext cx="1920240" cy="23225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tep3_22_weighted_mask_input_2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130552"/>
            <a:ext cx="1773936" cy="17739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" y="4059936"/>
            <a:ext cx="177393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输入 mask_input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1965960"/>
            <a:ext cx="2240280" cy="23225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ep3_33_weighted_positive_poin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092" y="2039112"/>
            <a:ext cx="1956816" cy="19568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53512" y="4059936"/>
            <a:ext cx="209397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输入 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1965960"/>
            <a:ext cx="2011680" cy="23225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tep4_weighted_candidate_0_score_0.915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2084832"/>
            <a:ext cx="1865376" cy="1865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4059936"/>
            <a:ext cx="186537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candidate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1965960"/>
            <a:ext cx="2011680" cy="23225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tep4_weighted_candidate_1_score_0.656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2084832"/>
            <a:ext cx="1865376" cy="18653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08392" y="4059936"/>
            <a:ext cx="186537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candidate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1965960"/>
            <a:ext cx="2011680" cy="23225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tep4_weighted_candidate_2_score_0.949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672" y="2084832"/>
            <a:ext cx="1865376" cy="18653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948672" y="4059936"/>
            <a:ext cx="186537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candidate 2 / best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526280"/>
            <a:ext cx="29718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526280"/>
            <a:ext cx="64008" cy="1143000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672584"/>
            <a:ext cx="265176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2B65B0"/>
                </a:solidFill>
                <a:latin typeface="Microsoft YaHei"/>
              </a:defRPr>
            </a:pPr>
            <a:r>
              <a:t>SAM2 调用逻辑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029200"/>
            <a:ext cx="265176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predictor.set_image(tile_np)。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predict(mask_input=..., multimask_output=True)。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如果有 point_coords，则同时传 point_coords 和 point_labels。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77639" y="4526280"/>
            <a:ext cx="29718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77639" y="4526280"/>
            <a:ext cx="64008" cy="114300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19" y="4672584"/>
            <a:ext cx="265176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2A875B"/>
                </a:solidFill>
                <a:latin typeface="Microsoft YaHei"/>
              </a:defRPr>
            </a:pPr>
            <a:r>
              <a:t>候选选择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19" y="5029200"/>
            <a:ext cx="265176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SAM2 返回多个候选 masks 和 scores。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当前取 score 最大的候选作为 best_mask。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示例 best_idx=2，best_score=0.950，best_area=45,610 px。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78040" y="4526280"/>
            <a:ext cx="3977639" cy="1143000"/>
          </a:xfrm>
          <a:prstGeom prst="roundRect">
            <a:avLst/>
          </a:prstGeom>
          <a:solidFill>
            <a:srgbClr val="FDFDF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42632" y="4654296"/>
            <a:ext cx="3657599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250" b="1">
                <a:solidFill>
                  <a:srgbClr val="111827"/>
                </a:solidFill>
                <a:latin typeface="Microsoft YaHei"/>
              </a:defRPr>
            </a:pPr>
            <a:r>
              <a:t>cell/sam2.py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4946904"/>
            <a:ext cx="3657599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2D3748"/>
                </a:solidFill>
                <a:latin typeface="Consolas"/>
              </a:defRPr>
            </a:pPr>
            <a:r>
              <a:t>masks, scores, low_res = predictor.predict(...)</a:t>
            </a:r>
            <a:br/>
            <a:r>
              <a:t>best_idx = argmax(scores)</a:t>
            </a:r>
            <a:br/>
            <a:r>
              <a:t>best_mask = masks[best_idx]</a:t>
            </a:r>
            <a:br/>
            <a:r>
              <a:t>instance_mask[best_mask] =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defRPr sz="850" b="0">
                <a:solidFill>
                  <a:srgbClr val="5C6675"/>
                </a:solidFill>
                <a:latin typeface="Microsoft YaHei"/>
              </a:defRPr>
            </a:pPr>
            <a:r>
              <a:t>debug_output/test08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3931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Microsoft YaHei"/>
              </a:defRPr>
            </a:pPr>
            <a:r>
              <a:t>步骤 6：SAM2 raw mask 后处理成 tile 内实例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0">
                <a:solidFill>
                  <a:srgbClr val="5C6675"/>
                </a:solidFill>
                <a:latin typeface="Microsoft YaHei"/>
              </a:defRPr>
            </a:pPr>
            <a:r>
              <a:t>功能：把 SAM2 的一个/多个 mask 拆成连通实例，过滤并保存为 tile 级实例 mask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4983480" cy="65836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07008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50" b="1">
                <a:solidFill>
                  <a:srgbClr val="2B65B0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207008"/>
            <a:ext cx="3794760" cy="3474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30" b="0">
                <a:solidFill>
                  <a:srgbClr val="1F2937"/>
                </a:solidFill>
                <a:latin typeface="Microsoft YaHei"/>
              </a:defRPr>
            </a:pPr>
            <a:r>
              <a:t>SAM2 raw instance_mask + scores + tile_info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078992"/>
            <a:ext cx="4983480" cy="658368"/>
          </a:xfrm>
          <a:prstGeom prst="roundRect">
            <a:avLst/>
          </a:prstGeom>
          <a:solidFill>
            <a:srgbClr val="E5F6E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07008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50" b="1">
                <a:solidFill>
                  <a:srgbClr val="2A875B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207008"/>
            <a:ext cx="3794760" cy="3474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30" b="0">
                <a:solidFill>
                  <a:srgbClr val="1F2937"/>
                </a:solidFill>
                <a:latin typeface="Microsoft YaHei"/>
              </a:defRPr>
            </a:pPr>
            <a:r>
              <a:t>merged tile mask + tile polygons + debug step5/step7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33872" y="1261872"/>
            <a:ext cx="438912" cy="292608"/>
          </a:xfrm>
          <a:prstGeom prst="rightArrow">
            <a:avLst/>
          </a:prstGeom>
          <a:solidFill>
            <a:srgbClr val="5C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2011680"/>
            <a:ext cx="2057400" cy="2368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tep5_01_merge_filter_sam2_raw_outp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130552"/>
            <a:ext cx="1911096" cy="19110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" y="4151376"/>
            <a:ext cx="191109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SAM2 raw mask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2011680"/>
            <a:ext cx="2286000" cy="2368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ep5_02_merge_filter_sam2_raw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532" y="2084832"/>
            <a:ext cx="2002536" cy="20025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44952" y="4151376"/>
            <a:ext cx="213969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raw overlay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2011680"/>
            <a:ext cx="2286000" cy="2368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tep5_05_merge_filter_merged_overla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132" y="2084832"/>
            <a:ext cx="2002536" cy="20025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59552" y="4151376"/>
            <a:ext cx="213969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merged overlay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2011680"/>
            <a:ext cx="2286000" cy="2368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tep7_sam2_merge_dif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2732" y="2084832"/>
            <a:ext cx="2002536" cy="20025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74152" y="4151376"/>
            <a:ext cx="213969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raw vs merged diff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61320" y="2176272"/>
            <a:ext cx="914400" cy="658368"/>
          </a:xfrm>
          <a:prstGeom prst="roundRect">
            <a:avLst/>
          </a:prstGeom>
          <a:solidFill>
            <a:srgbClr val="FCEBE8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71048" y="2295144"/>
            <a:ext cx="6949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800" b="1">
                <a:solidFill>
                  <a:srgbClr val="9E352D"/>
                </a:solidFill>
                <a:latin typeface="Microsoft YaHei"/>
              </a:defRPr>
            </a:pPr>
            <a:r>
              <a:t>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71048" y="2642616"/>
            <a:ext cx="694944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50" b="0">
                <a:solidFill>
                  <a:srgbClr val="5C6675"/>
                </a:solidFill>
                <a:latin typeface="Microsoft YaHei"/>
              </a:defRPr>
            </a:pPr>
            <a:r>
              <a:t>CC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61320" y="2999232"/>
            <a:ext cx="914400" cy="658368"/>
          </a:xfrm>
          <a:prstGeom prst="roundRect">
            <a:avLst/>
          </a:prstGeom>
          <a:solidFill>
            <a:srgbClr val="E5F6E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71048" y="3118104"/>
            <a:ext cx="6949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800" b="1">
                <a:solidFill>
                  <a:srgbClr val="2A875B"/>
                </a:solidFill>
                <a:latin typeface="Microsoft YaHei"/>
              </a:defRPr>
            </a:pPr>
            <a:r>
              <a:t>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71048" y="3465576"/>
            <a:ext cx="694944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50" b="0">
                <a:solidFill>
                  <a:srgbClr val="5C6675"/>
                </a:solidFill>
                <a:latin typeface="Microsoft YaHei"/>
              </a:defRPr>
            </a:pPr>
            <a:r>
              <a:t>final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617720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617720"/>
            <a:ext cx="64008" cy="1051560"/>
          </a:xfrm>
          <a:prstGeom prst="rect">
            <a:avLst/>
          </a:prstGeom>
          <a:solidFill>
            <a:srgbClr val="9E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764024"/>
            <a:ext cx="29260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9E352D"/>
                </a:solidFill>
                <a:latin typeface="Microsoft YaHei"/>
              </a:defRPr>
            </a:pPr>
            <a:r>
              <a:t>后处理逻辑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120640"/>
            <a:ext cx="29260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merge_connected_masks() 对 SAM2 mask 做连通域拆分。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每个连通域成为 tile 内一个实例 id。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当前 min_area=0，所以小碎片也会保留到后面统计。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4617720"/>
            <a:ext cx="3337560" cy="1051560"/>
          </a:xfrm>
          <a:prstGeom prst="roundRect">
            <a:avLst/>
          </a:prstGeom>
          <a:solidFill>
            <a:srgbClr val="FDFDF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7992" y="4745736"/>
            <a:ext cx="30175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250" b="1">
                <a:solidFill>
                  <a:srgbClr val="111827"/>
                </a:solidFill>
                <a:latin typeface="Microsoft YaHei"/>
              </a:defRPr>
            </a:pPr>
            <a:r>
              <a:t>cell/postprocess.py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5038344"/>
            <a:ext cx="3017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2D3748"/>
                </a:solidFill>
                <a:latin typeface="Consolas"/>
              </a:defRPr>
            </a:pPr>
            <a:r>
              <a:t>merged = merge_connected_masks(</a:t>
            </a:r>
            <a:br/>
            <a:r>
              <a:t>    sam_mask, scores, min_area)</a:t>
            </a:r>
            <a:br/>
            <a:r>
              <a:t>export_mask = _apply_center_valid_crop(...)</a:t>
            </a:r>
            <a:br/>
            <a:r>
              <a:t>tile_polys = _extract_tile_polygons(...)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4617720"/>
            <a:ext cx="31089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01000" y="4617720"/>
            <a:ext cx="64008" cy="1051560"/>
          </a:xfrm>
          <a:prstGeom prst="rect">
            <a:avLst/>
          </a:prstGeom>
          <a:solidFill>
            <a:srgbClr val="B67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80" y="4764024"/>
            <a:ext cx="27889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B67622"/>
                </a:solidFill>
                <a:latin typeface="Microsoft YaHei"/>
              </a:defRPr>
            </a:pPr>
            <a:r>
              <a:t>为什么要拆分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5120640"/>
            <a:ext cx="278892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SAM2 最佳 mask 可能覆盖多个不相连血管段。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连通域拆分后才能把每个血管段作为独立实例统计和导出。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defRPr sz="850" b="0">
                <a:solidFill>
                  <a:srgbClr val="5C6675"/>
                </a:solidFill>
                <a:latin typeface="Microsoft YaHei"/>
              </a:defRPr>
            </a:pPr>
            <a:r>
              <a:t>debug_output/test08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3931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Microsoft YaHei"/>
              </a:defRPr>
            </a:pPr>
            <a:r>
              <a:t>步骤 7：center-valid 拼接和跨 tile 合并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0">
                <a:solidFill>
                  <a:srgbClr val="5C6675"/>
                </a:solidFill>
                <a:latin typeface="Microsoft YaHei"/>
              </a:defRPr>
            </a:pPr>
            <a:r>
              <a:t>功能：避免 overlap 重复计数，同时用 overlap 区域判断跨 tile 是否属于同一血管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060704"/>
            <a:ext cx="4983480" cy="65836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88720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50" b="1">
                <a:solidFill>
                  <a:srgbClr val="2B65B0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188720"/>
            <a:ext cx="3794760" cy="3474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30" b="0">
                <a:solidFill>
                  <a:srgbClr val="1F2937"/>
                </a:solidFill>
                <a:latin typeface="Microsoft YaHei"/>
              </a:defRPr>
            </a:pPr>
            <a:r>
              <a:t>每个 tile 的 merged mask + row/col/x/y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060704"/>
            <a:ext cx="4983480" cy="658368"/>
          </a:xfrm>
          <a:prstGeom prst="roundRect">
            <a:avLst/>
          </a:prstGeom>
          <a:solidFill>
            <a:srgbClr val="E5F6E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188720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50" b="1">
                <a:solidFill>
                  <a:srgbClr val="2A875B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188720"/>
            <a:ext cx="3794760" cy="3474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30" b="0">
                <a:solidFill>
                  <a:srgbClr val="1F2937"/>
                </a:solidFill>
                <a:latin typeface="Microsoft YaHei"/>
              </a:defRPr>
            </a:pPr>
            <a:r>
              <a:t>全局 polygon groups + stitched debug images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33872" y="1243584"/>
            <a:ext cx="438912" cy="292608"/>
          </a:xfrm>
          <a:prstGeom prst="rightArrow">
            <a:avLst/>
          </a:prstGeom>
          <a:solidFill>
            <a:srgbClr val="5C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3063240" cy="30998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_region_tile_merged_mosa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459" y="1993392"/>
            <a:ext cx="2303040" cy="27340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" y="4791456"/>
            <a:ext cx="291693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tile merged mosaic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20240"/>
            <a:ext cx="3063240" cy="30998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7_region_overlap_match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738" y="1993392"/>
            <a:ext cx="2303040" cy="27340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050791" y="4791456"/>
            <a:ext cx="291693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overlap matches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920240"/>
            <a:ext cx="3063240" cy="30998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6_region_tile_vs_geojson_dif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019" y="1993392"/>
            <a:ext cx="2303040" cy="27340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34072" y="4791456"/>
            <a:ext cx="291693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tile vs GeoJSON diff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074920"/>
            <a:ext cx="29260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074920"/>
            <a:ext cx="64008" cy="914400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221224"/>
            <a:ext cx="260604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2B65B0"/>
                </a:solidFill>
                <a:latin typeface="Microsoft YaHei"/>
              </a:defRPr>
            </a:pPr>
            <a:r>
              <a:t>center-valid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577840"/>
            <a:ext cx="260604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每个 tile 只导出中心有效区域。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overlap=128，即四周各裁剪约 64 px。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边界 tile 没有邻居的一侧不裁剪。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5074920"/>
            <a:ext cx="29260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77639" y="5074920"/>
            <a:ext cx="64008" cy="91440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19" y="5221224"/>
            <a:ext cx="260604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2A875B"/>
                </a:solidFill>
                <a:latin typeface="Microsoft YaHei"/>
              </a:defRPr>
            </a:pPr>
            <a:r>
              <a:t>跨 tile 合并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19" y="5577840"/>
            <a:ext cx="260604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保留未裁剪 mask 作为 overlap 匹配证据。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相邻 tile 的重叠区域有像素对应则 Union-Find 合并。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test08 接受匹配 56 条。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5074920"/>
            <a:ext cx="3840480" cy="914400"/>
          </a:xfrm>
          <a:prstGeom prst="roundRect">
            <a:avLst/>
          </a:prstGeom>
          <a:solidFill>
            <a:srgbClr val="FDFDF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5202936"/>
            <a:ext cx="352044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250" b="1">
                <a:solidFill>
                  <a:srgbClr val="111827"/>
                </a:solidFill>
                <a:latin typeface="Microsoft YaHei"/>
              </a:defRPr>
            </a:pPr>
            <a:r>
              <a:t>postprocess.py / tile_reconstruction.py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5495544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2D3748"/>
                </a:solidFill>
                <a:latin typeface="Consolas"/>
              </a:defRPr>
            </a:pPr>
            <a:r>
              <a:t>_apply_center_valid_crop(...)</a:t>
            </a:r>
            <a:br/>
            <a:r>
              <a:t>export_geojson(..., merge_mode='center-valid')</a:t>
            </a:r>
            <a:br/>
            <a:r>
              <a:t>Pass2: overlap pixel matching</a:t>
            </a:r>
            <a:br/>
            <a:r>
              <a:t>Pass3: unary_union -&gt; GeoJSON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defRPr sz="850" b="0">
                <a:solidFill>
                  <a:srgbClr val="5C6675"/>
                </a:solidFill>
                <a:latin typeface="Microsoft YaHei"/>
              </a:defRPr>
            </a:pPr>
            <a:r>
              <a:t>debug_output/test08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3931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Microsoft YaHei"/>
              </a:defRPr>
            </a:pPr>
            <a:r>
              <a:t>步骤 8：导出 GeoJSON 和统计结果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0">
                <a:solidFill>
                  <a:srgbClr val="5C6675"/>
                </a:solidFill>
                <a:latin typeface="Microsoft YaHei"/>
              </a:defRPr>
            </a:pPr>
            <a:r>
              <a:t>功能：把 tile 内局部坐标转换为 WSI level-0 全局坐标，并输出 QuPath 可读结果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060704"/>
            <a:ext cx="4983480" cy="65836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88720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50" b="1">
                <a:solidFill>
                  <a:srgbClr val="2B65B0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188720"/>
            <a:ext cx="3794760" cy="3474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30" b="0">
                <a:solidFill>
                  <a:srgbClr val="1F2937"/>
                </a:solidFill>
                <a:latin typeface="Microsoft YaHei"/>
              </a:defRPr>
            </a:pPr>
            <a:r>
              <a:t>poly_map + masks + crop_origin + level_downsample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060704"/>
            <a:ext cx="4983480" cy="658368"/>
          </a:xfrm>
          <a:prstGeom prst="roundRect">
            <a:avLst/>
          </a:prstGeom>
          <a:solidFill>
            <a:srgbClr val="E5F6E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188720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150" b="1">
                <a:solidFill>
                  <a:srgbClr val="2A875B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188720"/>
            <a:ext cx="3794760" cy="3474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30" b="0">
                <a:solidFill>
                  <a:srgbClr val="1F2937"/>
                </a:solidFill>
                <a:latin typeface="Microsoft YaHei"/>
              </a:defRPr>
            </a:pPr>
            <a:r>
              <a:t>DC2200155 A3 CD34.geojson + summary/statistics.csv + area histogram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33872" y="1243584"/>
            <a:ext cx="438912" cy="292608"/>
          </a:xfrm>
          <a:prstGeom prst="rightArrow">
            <a:avLst/>
          </a:prstGeom>
          <a:solidFill>
            <a:srgbClr val="5C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4251960" cy="3374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5_region_geojson_over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282" y="1947671"/>
            <a:ext cx="2534114" cy="3008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" y="5020055"/>
            <a:ext cx="410565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GeoJSON overlay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874519"/>
            <a:ext cx="5806440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C2200155 A3 CD34_area_histogr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2121318"/>
            <a:ext cx="5660136" cy="202100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39512" y="4379975"/>
            <a:ext cx="566013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面积分布统计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9240" y="4800600"/>
            <a:ext cx="1325880" cy="621792"/>
          </a:xfrm>
          <a:prstGeom prst="roundRect">
            <a:avLst/>
          </a:prstGeom>
          <a:solidFill>
            <a:srgbClr val="FCEBE8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58968" y="4919472"/>
            <a:ext cx="110642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800" b="1">
                <a:solidFill>
                  <a:srgbClr val="9E352D"/>
                </a:solidFill>
                <a:latin typeface="Microsoft YaHei"/>
              </a:defRPr>
            </a:pPr>
            <a:r>
              <a:t>404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8" y="5266944"/>
            <a:ext cx="1106424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50" b="0">
                <a:solidFill>
                  <a:srgbClr val="5C6675"/>
                </a:solidFill>
                <a:latin typeface="Microsoft YaHei"/>
              </a:defRPr>
            </a:pPr>
            <a:r>
              <a:t>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800600"/>
            <a:ext cx="1325880" cy="621792"/>
          </a:xfrm>
          <a:prstGeom prst="roundRect">
            <a:avLst/>
          </a:prstGeom>
          <a:solidFill>
            <a:srgbClr val="FFF4E2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4919472"/>
            <a:ext cx="110642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800" b="1">
                <a:solidFill>
                  <a:srgbClr val="B67622"/>
                </a:solidFill>
                <a:latin typeface="Microsoft YaHei"/>
              </a:defRPr>
            </a:pPr>
            <a:r>
              <a:t>2438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5266944"/>
            <a:ext cx="1106424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50" b="0">
                <a:solidFill>
                  <a:srgbClr val="5C6675"/>
                </a:solidFill>
                <a:latin typeface="Microsoft YaHei"/>
              </a:defRPr>
            </a:pPr>
            <a:r>
              <a:t>mean px2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4800600"/>
            <a:ext cx="1325880" cy="621792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67928" y="4919472"/>
            <a:ext cx="110642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800" b="1">
                <a:solidFill>
                  <a:srgbClr val="2B65B0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7928" y="5266944"/>
            <a:ext cx="1106424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50" b="0">
                <a:solidFill>
                  <a:srgbClr val="5C6675"/>
                </a:solidFill>
                <a:latin typeface="Microsoft YaHei"/>
              </a:defRPr>
            </a:pPr>
            <a:r>
              <a:t>median px2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2680" y="4800600"/>
            <a:ext cx="1325880" cy="621792"/>
          </a:xfrm>
          <a:prstGeom prst="roundRect">
            <a:avLst/>
          </a:prstGeom>
          <a:solidFill>
            <a:srgbClr val="E5F6E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22408" y="4919472"/>
            <a:ext cx="110642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1800" b="1">
                <a:solidFill>
                  <a:srgbClr val="2A875B"/>
                </a:solidFill>
                <a:latin typeface="Microsoft YaHei"/>
              </a:defRPr>
            </a:pPr>
            <a:r>
              <a:t>103955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22408" y="5266944"/>
            <a:ext cx="1106424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50" b="0">
                <a:solidFill>
                  <a:srgbClr val="5C6675"/>
                </a:solidFill>
                <a:latin typeface="Microsoft YaHei"/>
              </a:defRPr>
            </a:pPr>
            <a:r>
              <a:t>max px2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394960"/>
            <a:ext cx="40690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394960"/>
            <a:ext cx="64008" cy="77724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541264"/>
            <a:ext cx="374904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2A875B"/>
                </a:solidFill>
                <a:latin typeface="Microsoft YaHei"/>
              </a:defRPr>
            </a:pPr>
            <a:r>
              <a:t>导出逻辑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897880"/>
            <a:ext cx="37490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局部坐标先按 tile offset 放回 ROI/crop 坐标，再通过 crop_origin 和 level_downsample 转成 level-0 绝对坐标。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GeoJSON 可直接在 QuPath 中加载查看。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66360" y="5532120"/>
            <a:ext cx="580644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66360" y="5532120"/>
            <a:ext cx="64008" cy="640080"/>
          </a:xfrm>
          <a:prstGeom prst="rect">
            <a:avLst/>
          </a:prstGeom>
          <a:solidFill>
            <a:srgbClr val="9E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9240" y="5678424"/>
            <a:ext cx="54864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9E352D"/>
                </a:solidFill>
                <a:latin typeface="Microsoft YaHei"/>
              </a:defRPr>
            </a:pPr>
            <a:r>
              <a:t>结果解释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6035040"/>
            <a:ext cx="5486400" cy="457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当前 &lt;20 px2 的小区域有 213 个，&lt;100 px2 的有 254 个，说明后续需要加入更严格的小碎片过滤。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defRPr sz="850" b="0">
                <a:solidFill>
                  <a:srgbClr val="5C6675"/>
                </a:solidFill>
                <a:latin typeface="Microsoft YaHei"/>
              </a:defRPr>
            </a:pPr>
            <a:r>
              <a:t>输出文件：DC2200155 A3 CD34.geojson / *_summary.csv / *_statistics.csv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3931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Microsoft YaHei"/>
              </a:defRPr>
            </a:pPr>
            <a:r>
              <a:t>代码结构对应关系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0">
                <a:solidFill>
                  <a:srgbClr val="5C6675"/>
                </a:solidFill>
                <a:latin typeface="Microsoft YaHei"/>
              </a:defRPr>
            </a:pPr>
            <a:r>
              <a:t>讲代码时可按这张图定位：每一步的核心函数和输入输出对象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325880"/>
            <a:ext cx="1645920" cy="38404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417320"/>
            <a:ext cx="1499616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80" b="1">
                <a:solidFill>
                  <a:srgbClr val="2B65B0"/>
                </a:solidFill>
                <a:latin typeface="Microsoft YaHei"/>
              </a:defRPr>
            </a:pPr>
            <a:r>
              <a:t>阶段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9152" y="1325880"/>
            <a:ext cx="3886200" cy="38404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2304" y="1417320"/>
            <a:ext cx="3739896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80" b="1">
                <a:solidFill>
                  <a:srgbClr val="2B65B0"/>
                </a:solidFill>
                <a:latin typeface="Microsoft YaHei"/>
              </a:defRPr>
            </a:pPr>
            <a:r>
              <a:t>代码位置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325880"/>
            <a:ext cx="5166360" cy="38404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417320"/>
            <a:ext cx="5020056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80" b="1">
                <a:solidFill>
                  <a:srgbClr val="2B65B0"/>
                </a:solidFill>
                <a:latin typeface="Microsoft YaHei"/>
              </a:defRPr>
            </a:pPr>
            <a:r>
              <a:t>主要输入 -&gt; 输出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728216"/>
            <a:ext cx="164592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847088"/>
            <a:ext cx="149961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1">
                <a:solidFill>
                  <a:srgbClr val="1F2937"/>
                </a:solidFill>
                <a:latin typeface="Microsoft YaHei"/>
              </a:defRPr>
            </a:pPr>
            <a:r>
              <a:t>选 tile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59152" y="1728216"/>
            <a:ext cx="388620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32304" y="1847088"/>
            <a:ext cx="373989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0">
                <a:solidFill>
                  <a:srgbClr val="1F2937"/>
                </a:solidFill>
                <a:latin typeface="Microsoft YaHei"/>
              </a:defRPr>
            </a:pPr>
            <a:r>
              <a:t>cell/main.py, cell/utils.py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728216"/>
            <a:ext cx="51663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847088"/>
            <a:ext cx="502005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0">
                <a:solidFill>
                  <a:srgbClr val="1F2937"/>
                </a:solidFill>
                <a:latin typeface="Microsoft YaHei"/>
              </a:defRPr>
            </a:pPr>
            <a:r>
              <a:t>ROI/debug region -&gt; tile_info 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295144"/>
            <a:ext cx="1645920" cy="512064"/>
          </a:xfrm>
          <a:prstGeom prst="roundRect">
            <a:avLst/>
          </a:prstGeom>
          <a:solidFill>
            <a:srgbClr val="FCFDFE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414016"/>
            <a:ext cx="149961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1">
                <a:solidFill>
                  <a:srgbClr val="1F2937"/>
                </a:solidFill>
                <a:latin typeface="Microsoft YaHei"/>
              </a:defRPr>
            </a:pPr>
            <a:r>
              <a:t>DeepLIIF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59152" y="2295144"/>
            <a:ext cx="3886200" cy="512064"/>
          </a:xfrm>
          <a:prstGeom prst="roundRect">
            <a:avLst/>
          </a:prstGeom>
          <a:solidFill>
            <a:srgbClr val="FCFDFE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32304" y="2414016"/>
            <a:ext cx="373989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0">
                <a:solidFill>
                  <a:srgbClr val="1F2937"/>
                </a:solidFill>
                <a:latin typeface="Microsoft YaHei"/>
              </a:defRPr>
            </a:pPr>
            <a:r>
              <a:t>cell/deepliif.py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2295144"/>
            <a:ext cx="5166360" cy="512064"/>
          </a:xfrm>
          <a:prstGeom prst="roundRect">
            <a:avLst/>
          </a:prstGeom>
          <a:solidFill>
            <a:srgbClr val="FCFDFE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2414016"/>
            <a:ext cx="502005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0">
                <a:solidFill>
                  <a:srgbClr val="1F2937"/>
                </a:solidFill>
                <a:latin typeface="Microsoft YaHei"/>
              </a:defRPr>
            </a:pPr>
            <a:r>
              <a:t>tile PIL batch -&gt; Seg/Marker/DAPI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2862072"/>
            <a:ext cx="164592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2980944"/>
            <a:ext cx="149961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1">
                <a:solidFill>
                  <a:srgbClr val="1F2937"/>
                </a:solidFill>
                <a:latin typeface="Microsoft YaHei"/>
              </a:defRPr>
            </a:pPr>
            <a:r>
              <a:t>weighted prompt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59152" y="2862072"/>
            <a:ext cx="388620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32304" y="2980944"/>
            <a:ext cx="373989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0">
                <a:solidFill>
                  <a:srgbClr val="1F2937"/>
                </a:solidFill>
                <a:latin typeface="Microsoft YaHei"/>
              </a:defRPr>
            </a:pPr>
            <a:r>
              <a:t>cd34_pipeline/sam2_wrapper/weighted_prompt.py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5352" y="2862072"/>
            <a:ext cx="51663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2980944"/>
            <a:ext cx="502005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0">
                <a:solidFill>
                  <a:srgbClr val="1F2937"/>
                </a:solidFill>
                <a:latin typeface="Microsoft YaHei"/>
              </a:defRPr>
            </a:pPr>
            <a:r>
              <a:t>Seg/Marker/RGB/DAPI -&gt; WeightedPromptResult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3429000"/>
            <a:ext cx="1645920" cy="512064"/>
          </a:xfrm>
          <a:prstGeom prst="roundRect">
            <a:avLst/>
          </a:prstGeom>
          <a:solidFill>
            <a:srgbClr val="FCFDFE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3547872"/>
            <a:ext cx="149961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1">
                <a:solidFill>
                  <a:srgbClr val="1F2937"/>
                </a:solidFill>
                <a:latin typeface="Microsoft YaHei"/>
              </a:defRPr>
            </a:pPr>
            <a:r>
              <a:t>SAM2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59152" y="3429000"/>
            <a:ext cx="3886200" cy="512064"/>
          </a:xfrm>
          <a:prstGeom prst="roundRect">
            <a:avLst/>
          </a:prstGeom>
          <a:solidFill>
            <a:srgbClr val="FCFDFE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32304" y="3547872"/>
            <a:ext cx="373989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0">
                <a:solidFill>
                  <a:srgbClr val="1F2937"/>
                </a:solidFill>
                <a:latin typeface="Microsoft YaHei"/>
              </a:defRPr>
            </a:pPr>
            <a:r>
              <a:t>cell/sam2.py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5352" y="3429000"/>
            <a:ext cx="5166360" cy="512064"/>
          </a:xfrm>
          <a:prstGeom prst="roundRect">
            <a:avLst/>
          </a:prstGeom>
          <a:solidFill>
            <a:srgbClr val="FCFDFE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3547872"/>
            <a:ext cx="502005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0">
                <a:solidFill>
                  <a:srgbClr val="1F2937"/>
                </a:solidFill>
                <a:latin typeface="Microsoft YaHei"/>
              </a:defRPr>
            </a:pPr>
            <a:r>
              <a:t>BucketItem -&gt; sam_mask, scores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3995928"/>
            <a:ext cx="164592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4114800"/>
            <a:ext cx="149961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1">
                <a:solidFill>
                  <a:srgbClr val="1F2937"/>
                </a:solidFill>
                <a:latin typeface="Microsoft YaHei"/>
              </a:defRPr>
            </a:pPr>
            <a:r>
              <a:t>后处理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59152" y="3995928"/>
            <a:ext cx="388620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32304" y="4114800"/>
            <a:ext cx="373989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0">
                <a:solidFill>
                  <a:srgbClr val="1F2937"/>
                </a:solidFill>
                <a:latin typeface="Microsoft YaHei"/>
              </a:defRPr>
            </a:pPr>
            <a:r>
              <a:t>cell/postprocess.py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5352" y="3995928"/>
            <a:ext cx="51663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18504" y="4114800"/>
            <a:ext cx="502005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0">
                <a:solidFill>
                  <a:srgbClr val="1F2937"/>
                </a:solidFill>
                <a:latin typeface="Microsoft YaHei"/>
              </a:defRPr>
            </a:pPr>
            <a:r>
              <a:t>sam_mask -&gt; merged mask + polygons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4562856"/>
            <a:ext cx="1645920" cy="512064"/>
          </a:xfrm>
          <a:prstGeom prst="roundRect">
            <a:avLst/>
          </a:prstGeom>
          <a:solidFill>
            <a:srgbClr val="FCFDFE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4681728"/>
            <a:ext cx="149961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1">
                <a:solidFill>
                  <a:srgbClr val="1F2937"/>
                </a:solidFill>
                <a:latin typeface="Microsoft YaHei"/>
              </a:defRPr>
            </a:pPr>
            <a:r>
              <a:t>拼接导出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59152" y="4562856"/>
            <a:ext cx="3886200" cy="512064"/>
          </a:xfrm>
          <a:prstGeom prst="roundRect">
            <a:avLst/>
          </a:prstGeom>
          <a:solidFill>
            <a:srgbClr val="FCFDFE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32304" y="4681728"/>
            <a:ext cx="373989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0">
                <a:solidFill>
                  <a:srgbClr val="1F2937"/>
                </a:solidFill>
                <a:latin typeface="Microsoft YaHei"/>
              </a:defRPr>
            </a:pPr>
            <a:r>
              <a:t>cd34_pipeline/io/tile_reconstruction.py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45352" y="4562856"/>
            <a:ext cx="5166360" cy="512064"/>
          </a:xfrm>
          <a:prstGeom prst="roundRect">
            <a:avLst/>
          </a:prstGeom>
          <a:solidFill>
            <a:srgbClr val="FCFDFE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18504" y="4681728"/>
            <a:ext cx="502005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0">
                <a:solidFill>
                  <a:srgbClr val="1F2937"/>
                </a:solidFill>
                <a:latin typeface="Microsoft YaHei"/>
              </a:defRPr>
            </a:pPr>
            <a:r>
              <a:t>poly_map/masks -&gt; GeoJSON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5129784"/>
            <a:ext cx="164592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" y="5248656"/>
            <a:ext cx="149961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1">
                <a:solidFill>
                  <a:srgbClr val="1F2937"/>
                </a:solidFill>
                <a:latin typeface="Microsoft YaHei"/>
              </a:defRPr>
            </a:pPr>
            <a:r>
              <a:t>可视化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59152" y="5129784"/>
            <a:ext cx="388620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32304" y="5248656"/>
            <a:ext cx="373989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0">
                <a:solidFill>
                  <a:srgbClr val="1F2937"/>
                </a:solidFill>
                <a:latin typeface="Microsoft YaHei"/>
              </a:defRPr>
            </a:pPr>
            <a:r>
              <a:t>cell/debug_vis.py, cell/region_debug.py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45352" y="5129784"/>
            <a:ext cx="51663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18504" y="5248656"/>
            <a:ext cx="502005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10" b="0">
                <a:solidFill>
                  <a:srgbClr val="1F2937"/>
                </a:solidFill>
                <a:latin typeface="Microsoft YaHei"/>
              </a:defRPr>
            </a:pPr>
            <a:r>
              <a:t>step 图 + region mosaic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8680" y="5623560"/>
            <a:ext cx="10058400" cy="658368"/>
          </a:xfrm>
          <a:prstGeom prst="roundRect">
            <a:avLst/>
          </a:prstGeom>
          <a:solidFill>
            <a:srgbClr val="FDFDFD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3272" y="5751576"/>
            <a:ext cx="97383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250" b="1">
                <a:solidFill>
                  <a:srgbClr val="111827"/>
                </a:solidFill>
                <a:latin typeface="Microsoft YaHei"/>
              </a:defRPr>
            </a:pPr>
            <a:r>
              <a:t>主线调用关系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" y="6044184"/>
            <a:ext cx="9738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2D3748"/>
                </a:solidFill>
                <a:latin typeface="Consolas"/>
              </a:defRPr>
            </a:pPr>
            <a:r>
              <a:t>Producer._extract_one(): DeepLIIF result -&gt; build_weighted_prompt() -&gt; BucketItem(mask_input, point_coords)</a:t>
            </a:r>
            <a:br/>
            <a:r>
              <a:t>Consumer._run_impl(): bucket items -&gt; SAM2Processor.segment_batch() -&gt; PostProcessor.merge_and_process()</a:t>
            </a:r>
            <a:br/>
            <a:r>
              <a:t>PostProcessor.export_geojson(): in-memory poly_map/masks -&gt; overlap matching -&gt; GeoJSON + statistics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defRPr sz="850" b="0">
                <a:solidFill>
                  <a:srgbClr val="5C6675"/>
                </a:solidFill>
                <a:latin typeface="Microsoft YaHei"/>
              </a:defRPr>
            </a:pPr>
            <a:r>
              <a:t>debug_output/test08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3931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Microsoft YaHei"/>
              </a:defRPr>
            </a:pPr>
            <a:r>
              <a:t>这套 pipeline 的重点逻辑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050" b="0">
                <a:solidFill>
                  <a:srgbClr val="5C6675"/>
                </a:solidFill>
                <a:latin typeface="Microsoft YaHei"/>
              </a:defRPr>
            </a:pPr>
            <a:r>
              <a:t>汇报时建议把重点放在“怎么把 DeepLIIF 线索变成 SAM2 prompt”和“怎么避免 tile overlap 重复计数”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834640" cy="28254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ep3_21_weighted_final_over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1490472"/>
            <a:ext cx="2459736" cy="24597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4014216"/>
            <a:ext cx="268833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重点 1：weighted prompt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67328" y="1417320"/>
            <a:ext cx="2834640" cy="28254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ep5_05_merge_filter_merged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780" y="1490472"/>
            <a:ext cx="2459736" cy="2459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0" y="4014216"/>
            <a:ext cx="268833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重点 2：实例拆分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48856" y="1417320"/>
            <a:ext cx="2834640" cy="28254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7_region_overlap_match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193" y="1490472"/>
            <a:ext cx="2071965" cy="24597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22008" y="4014216"/>
            <a:ext cx="2688336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defRPr sz="930" b="0">
                <a:solidFill>
                  <a:srgbClr val="5C6675"/>
                </a:solidFill>
                <a:latin typeface="Microsoft YaHei"/>
              </a:defRPr>
            </a:pPr>
            <a:r>
              <a:t>重点 3：跨 tile 合并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30175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434840"/>
            <a:ext cx="64008" cy="1371600"/>
          </a:xfrm>
          <a:prstGeom prst="rect">
            <a:avLst/>
          </a:prstGeom>
          <a:solidFill>
            <a:srgbClr val="9E3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581144"/>
            <a:ext cx="26974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9E352D"/>
                </a:solidFill>
                <a:latin typeface="Microsoft YaHei"/>
              </a:defRPr>
            </a:pPr>
            <a:r>
              <a:t>1. Prompt 是核心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2697480" cy="777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DeepLIIF 不是最终结果，而是生成 SAM2 prompt 的证据来源。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weighted prompt 使用 -5..5 logits，比二值 mask 更能表达强弱和不确定区域。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DAB/DAPI/lumen 逻辑负责减少误检和补足管腔结构。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4434840"/>
            <a:ext cx="30175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7639" y="4434840"/>
            <a:ext cx="64008" cy="1371600"/>
          </a:xfrm>
          <a:prstGeom prst="rect">
            <a:avLst/>
          </a:prstGeom>
          <a:solidFill>
            <a:srgbClr val="B67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19" y="4581144"/>
            <a:ext cx="26974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B67622"/>
                </a:solidFill>
                <a:latin typeface="Microsoft YaHei"/>
              </a:defRPr>
            </a:pPr>
            <a:r>
              <a:t>2. 后处理决定实例数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19" y="4937760"/>
            <a:ext cx="2697480" cy="777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SAM2 best mask 可能包含多个不连续区域。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连通域拆分后形成 tile 内多个实例。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当前小碎片偏多，下一步应加入面积/形态/置信度联合过滤。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4434840"/>
            <a:ext cx="30175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78040" y="4434840"/>
            <a:ext cx="64008" cy="137160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4581144"/>
            <a:ext cx="26974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defRPr sz="1300" b="1">
                <a:solidFill>
                  <a:srgbClr val="2A875B"/>
                </a:solidFill>
                <a:latin typeface="Microsoft YaHei"/>
              </a:defRPr>
            </a:pPr>
            <a:r>
              <a:t>3. 拼接决定全局可信度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937760"/>
            <a:ext cx="2697480" cy="777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center-valid 负责避免 overlap 重复导出。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未裁剪 mask 仍用于跨 tile 身份匹配。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90" b="0">
                <a:solidFill>
                  <a:srgbClr val="1F2937"/>
                </a:solidFill>
                <a:latin typeface="Microsoft YaHei"/>
              </a:defRPr>
            </a:pPr>
            <a:r>
              <a:t>• 最后用 GeoJSON 输出到全局坐标，便于 QuPath 复核。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defRPr sz="850" b="0">
                <a:solidFill>
                  <a:srgbClr val="5C6675"/>
                </a:solidFill>
                <a:latin typeface="Microsoft YaHei"/>
              </a:defRPr>
            </a:pPr>
            <a:r>
              <a:t>debug_output/test08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