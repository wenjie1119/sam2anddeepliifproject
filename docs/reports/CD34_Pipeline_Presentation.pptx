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a:lang="zh-CN">
                <a:solidFill>
                  <a:srgbClr val="FFFFFF"/>
                </a:solidFill>
                <a:latin typeface="Times New Roman"/>
                <a:ea typeface="SimSun"/>
              </a:rPr>
              <a:t>CD34 微血管自动检测与分割系统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a:lang="zh-CN">
                <a:solidFill>
                  <a:srgbClr val="00D2FF"/>
                </a:solidFill>
                <a:latin typeface="Times New Roman"/>
                <a:ea typeface="SimSun"/>
              </a:rPr>
              <a:t>技术路线: DeepLIIF 染色分解 → 连通域提取 → SAM2 实例分割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ep1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474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IHC 原图</a:t>
            </a:r>
          </a:p>
        </p:txBody>
      </p:sp>
      <p:pic>
        <p:nvPicPr>
          <p:cNvPr id="8" name="Picture 7" descr="step2_deepliif_S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20040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0" y="50474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DeepLIIF Seg</a:t>
            </a:r>
          </a:p>
        </p:txBody>
      </p:sp>
      <p:pic>
        <p:nvPicPr>
          <p:cNvPr id="10" name="Picture 9" descr="cr_step5_connected_regions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200400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50474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连通域提取</a:t>
            </a:r>
          </a:p>
        </p:txBody>
      </p:sp>
      <p:pic>
        <p:nvPicPr>
          <p:cNvPr id="12" name="Picture 11" descr="step5_merged_10in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20040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50474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SAM2 实例分割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a:lang="zh-CN">
                <a:solidFill>
                  <a:srgbClr val="999999"/>
                </a:solidFill>
                <a:latin typeface="Times New Roman"/>
                <a:ea typeface="SimSun"/>
              </a:rPr>
              <a:t>汇报人：杨文杰     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a:lang="zh-CN">
                <a:solidFill>
                  <a:srgbClr val="FFFFFF"/>
                </a:solidFill>
                <a:latin typeface="Times New Roman"/>
                <a:ea typeface="SimSun"/>
              </a:rPr>
              <a:t>技术路线总览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234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Pipeline 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53896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输入 -&gt; DeepLIIF -&gt; 阳性提取 -&gt; SAM2 -&gt; 后处理 -&gt; 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09928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DeepLIIF 染色分解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2938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IHC 输入 -&gt; 4 路模态翻译 -&gt; 5 路分割聚合 -&gt; Seg + Marker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85416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854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Seg+Marker 联合提取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0487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前景检测 -&gt; 阳性判定 -&gt; Marker 增强 -&gt; 形态学处理 -&gt; 连通域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60904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示例: 连通域提取过程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8036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Tile(63,72) 密集血管区域 — 逐步可视化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2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36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SAM2 Mask-Only 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5584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logit Mask Prompt -&gt; 3 候选掩码 -&gt; 置信度选择 -&gt; 重叠消解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11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SAM2 掩码提示词生成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31336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连通域 -&gt; 256x256 logit 掩码 -&gt; Mask Prompt 可视化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87368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87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后处理与合并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30682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连通域分析 -&gt; 面积过滤 (min_area=200) -&gt; 实例合并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62856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5628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Pipeline 完整示例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78231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两个 Tile 从原图到最终分割的 4 步可视化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38344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038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WSI 全片处理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25780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OpenSlide 读取 -&gt; YOLO 过滤 -&gt; 多 GPU 并行 -&gt; 结果输出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13832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5138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GeoJSON 导出详解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73328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轮廓提取 -&gt; Union-Find 边界合并 -&gt; 几何合并 -&gt; QuPath 导入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989320"/>
            <a:ext cx="594360" cy="420624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989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FFFFFF"/>
                </a:solidFill>
                <a:latin typeface="Times New Roman"/>
                <a:ea typeface="SimSun"/>
              </a:rPr>
              <a:t>参数详表与调优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6208776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所有关键参数、默认值、调优建议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01  Pipeline 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lang="zh-CN">
                <a:solidFill>
                  <a:srgbClr val="999999"/>
                </a:solidFill>
                <a:latin typeface="Times New Roman"/>
                <a:ea typeface="SimSun"/>
              </a:rPr>
              <a:t>单 Tile 处理流程: 输入 IHC 图像 → 虚拟染色分解 → 阳性区域提取 → 实例分割 → 结果输出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371600"/>
            <a:ext cx="1508760" cy="960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1. 读取 Tile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从 WSI 裁取
512x512 RGB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55648" y="1760220"/>
            <a:ext cx="192024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1371600"/>
            <a:ext cx="1508760" cy="960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2. DeepLIIF
   染色分解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输出 Seg (RGB)
输出 Marker (灰度)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93008" y="1760220"/>
            <a:ext cx="192024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1371600"/>
            <a:ext cx="1508760" cy="960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3. 阳性区域
   提取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Seg+Marker 联合
连通域模式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30368" y="1760220"/>
            <a:ext cx="192024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40680" y="1371600"/>
            <a:ext cx="1508760" cy="960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4. SAM2
   实例分割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Mask 提示输入
3 候选选最优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67728" y="1760220"/>
            <a:ext cx="192024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78040" y="1371600"/>
            <a:ext cx="1508760" cy="960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C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CC66FF"/>
                </a:solidFill>
                <a:latin typeface="Times New Roman"/>
                <a:ea typeface="SimSun"/>
              </a:rPr>
              <a:t>5. 后处理
   与保存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合并 + 面积过滤
NPY / GeoJSON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2743200"/>
            <a:ext cx="2834640" cy="34747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FF6B6B"/>
                </a:solidFill>
                <a:latin typeface="Times New Roman"/>
                <a:ea typeface="SimSun"/>
              </a:rPr>
              <a:t>Step 2: DeepLIIF 染色分解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1089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输入: 512x512 IHC Tile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Tile 切分: 512px + 32px overlap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4 路模态翻译 (Pix2Pix 生成器):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G1-&gt;DAPI, G2-&gt;Hema, G3-&gt;Lap2, G4-&gt;Marker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5 路分割网络 (G51-G55):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各生成概率图, 加权平均聚合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默认权重: 各 0.2 (可配置)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输出 Seg (RGB 图像):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R 通道 = 阳性 (棕色) 概率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B 通道 = 阴性 (蓝色) 概��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G 通道 = 边界标记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输出 Marker (灰度图):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亮度 = CD34 阳性信号强度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743200"/>
            <a:ext cx="2834640" cy="34747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FFA500"/>
                </a:solidFill>
                <a:latin typeface="Times New Roman"/>
                <a:ea typeface="SimSun"/>
              </a:rPr>
              <a:t>Step 3: 连通域提取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089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1. 前景检测: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(R+B) &gt; seg_thresh AND G &lt;= 80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2. 阳性判定: R &gt;= 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3. Marker 增强: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marker &gt; auto_thresh (99.9%ile x 0.9)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联合: seg_positive OR marker_positive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4. 形态学闭运算: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椭圆核 11x11, iterations=2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连接断裂的棕色血管壁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5. 形态学开运算: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椭圆核 3x3, 去除噪点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6. 八连通域分析: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过滤面积 &lt; min_area 的碎片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输出: 阳性连通域列表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743200"/>
            <a:ext cx="2834640" cy="34747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16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4ECB71"/>
                </a:solidFill>
                <a:latin typeface="Times New Roman"/>
                <a:ea typeface="SimSun"/>
              </a:rPr>
              <a:t>Step 4-5: SAM2 + 后处理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10896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逐区域生成 Mask Prompt: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初始化全图 logit = -5.0 (背景)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前景像素设为 +5.0 (前景)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缩放至 256x256 (双线性插值)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SAM2 推理 (逐区域):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输入: Mask Prompt (256x256)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multimask_output = True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输出: 3 个候选 mask + 3 个 score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选择 score 最高者为最优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置信度优先合并: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重叠像素由高分实例占据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低分实例被部分覆盖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后处理过滤: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score &lt; 0.05 的实例被移除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面积 &lt; min_area 的碎片被移除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02  DeepLIIF 染色分解 — 实际输出示例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051560"/>
            <a:ext cx="118872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IHC 输入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371600" y="1234440"/>
            <a:ext cx="13716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8760" y="1051560"/>
            <a:ext cx="118872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CCCCCC"/>
                </a:solidFill>
                <a:latin typeface="Times New Roman"/>
                <a:ea typeface="SimSun"/>
              </a:rPr>
              <a:t>Tiling
512+32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1234440"/>
            <a:ext cx="13716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051560"/>
            <a:ext cx="118872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G1-G4
模态翻译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1234440"/>
            <a:ext cx="13716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20" y="1051560"/>
            <a:ext cx="118872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G51-G55
5 路分割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49240" y="1234440"/>
            <a:ext cx="13716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0" y="1051560"/>
            <a:ext cx="118872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加权聚合
Seg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675120" y="1234440"/>
            <a:ext cx="13716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12280" y="1051560"/>
            <a:ext cx="118872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Marker
(G4 直出)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783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lang="zh-CN">
                <a:solidFill>
                  <a:srgbClr val="00D2FF"/>
                </a:solidFill>
                <a:latin typeface="Times New Roman"/>
                <a:ea typeface="SimSun"/>
              </a:rPr>
              <a:t>示例: Tile(63,72) — 密集微血管区域</a:t>
            </a:r>
          </a:p>
        </p:txBody>
      </p:sp>
      <p:pic>
        <p:nvPicPr>
          <p:cNvPr id="16" name="Picture 15" descr="step1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2560320" cy="2560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320" y="4681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原图: CD34 IHC 染色
棕色 = CD34+ 血管内皮, 蓝色 = 苏木精复染细胞核</a:t>
            </a:r>
          </a:p>
        </p:txBody>
      </p:sp>
      <p:pic>
        <p:nvPicPr>
          <p:cNvPr id="18" name="Picture 17" descr="step2_deepliif_S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03120"/>
            <a:ext cx="2560320" cy="2560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08960" y="4681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Seg (5 路分割聚合): RGB 编码
红区 R&gt;B = 阳性概率高, 蓝区 B&gt;R = 阴性, 绿 = 边界</a:t>
            </a:r>
          </a:p>
        </p:txBody>
      </p:sp>
      <p:pic>
        <p:nvPicPr>
          <p:cNvPr id="20" name="Picture 19" descr="step2_deepliif_Ma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103120"/>
            <a:ext cx="2560320" cy="2560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600" y="4681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Marker (G4 翻译): 灰度图
亮度 = CD34 阳性信号强度, 暗区 = 背景/阴性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166360"/>
            <a:ext cx="8595360" cy="7772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DeepLIIF 推理参数:  输入尺寸 = 512x512 | Tile overlap = 32px | 分割权重 seg_weights = [0.2, 0.2, 0.2, 0.2, 0.2] (G51-G55 等权)
Seg RGB 解读:  R &gt;= B 表示阳性 (CD34 棕色区域); R &lt; B 表示阴性 (苏木精蓝色区域); G 通道标记细胞边界
Marker 直接反映 CD34 染色强度, 用于辅助确认阳性区域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03  Seg+Marker 联合提取 — 算法详解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lang="zh-CN">
                <a:solidFill>
                  <a:srgbClr val="999999"/>
                </a:solidFill>
                <a:latin typeface="Times New Roman"/>
                <a:ea typeface="SimSun"/>
              </a:rPr>
              <a:t>从 DeepLIIF 的 Seg 和 Marker 输出中提取 CD34 阳性连通域, 作为 SAM2 的输入提示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42519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Step 1: 前景检测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从 Seg RGB 图像中分离前景与背景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前景条件: (R+B) &gt; seg_thresh AND G &lt;= 80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输出: 前景布尔掩码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参数: seg_thresh=120 (默认)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42519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41732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Step 2: 阳性像素判定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9164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Seg 阳性: 前景中 R &gt;= B 的像素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Marker 增强: marker 灰度值 &gt; 自动阈值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自动阈值 = 非零像素 99.9 百分位 x 0.9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联合判定: seg_positive OR marker_positive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42519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Step 3: 形态学闭运算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2900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对联合阳性掩码做闭运算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椭圆核大小: 11x11, 迭代次数: 2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作用: 连接相邻阳性像素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填充血管壁的小缺口和断裂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3108960"/>
            <a:ext cx="42519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15468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Step 4: 形态学开运算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对闭运算结果做开运算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椭圆核大小: 3x3, 迭代次数: 1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作用: 去除小噪点和伪影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参数: morphology_kernel=11 (闭运算)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846320"/>
            <a:ext cx="42519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C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89204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CC66FF"/>
                </a:solidFill>
                <a:latin typeface="Times New Roman"/>
                <a:ea typeface="SimSun"/>
              </a:rPr>
              <a:t>Step 5: 连通域分析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6636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CC66FF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在处理后掩码上做八连通域分析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CC66FF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8-连通: 斜对角像素也计入同一区域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CC66FF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面积过滤: 像素数 &lt; min_area 的区域移除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CC66FF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参数: min_area=200 (默认)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846320"/>
            <a:ext cx="42519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489204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FFD700"/>
                </a:solidFill>
                <a:latin typeface="Times New Roman"/>
                <a:ea typeface="SimSun"/>
              </a:rPr>
              <a:t>Step 6: 输出区域信息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166360"/>
            <a:ext cx="4069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每个区域记录: 坐标集合, 中心点, 面积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marker 统计: sum/max/mean 值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全部标记为阳性区域 (is_positive)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作为 clusters 列表送入 SAM2 推理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04  示例: 连通域提取过程 — Tile(63,72)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lang="zh-CN">
                <a:solidFill>
                  <a:srgbClr val="999999"/>
                </a:solidFill>
                <a:latin typeface="Times New Roman"/>
                <a:ea typeface="SimSun"/>
              </a:rPr>
              <a:t>密集血管区域 — 从 Seg 输出到最终 10 个连通域的逐步变换</a:t>
            </a:r>
          </a:p>
        </p:txBody>
      </p:sp>
      <p:pic>
        <p:nvPicPr>
          <p:cNvPr id="5" name="Picture 4" descr="cr_step1_foreground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" y="28986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00D2FF"/>
                </a:solidFill>
                <a:latin typeface="Times New Roman"/>
                <a:ea typeface="SimSun"/>
              </a:rPr>
              <a:t>Step1: 前景掩码
(R+B)&gt;120 &amp; G&lt;=80</a:t>
            </a:r>
          </a:p>
        </p:txBody>
      </p:sp>
      <p:pic>
        <p:nvPicPr>
          <p:cNvPr id="7" name="Picture 6" descr="cr_step1_posneg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280160"/>
            <a:ext cx="16002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40" y="28986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FF6B6B"/>
                </a:solidFill>
                <a:latin typeface="Times New Roman"/>
                <a:ea typeface="SimSun"/>
              </a:rPr>
              <a:t>Step1b: 阳/阴性分布
红=阳性(R&gt;=B) 蓝=阴性</a:t>
            </a:r>
          </a:p>
        </p:txBody>
      </p:sp>
      <p:pic>
        <p:nvPicPr>
          <p:cNvPr id="9" name="Picture 8" descr="cr_step2a_seg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280160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3320" y="28986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4ECB71"/>
                </a:solidFill>
                <a:latin typeface="Times New Roman"/>
                <a:ea typeface="SimSun"/>
              </a:rPr>
              <a:t>Step2: Seg阳性区域
绿色标记, 黑色=非阳性</a:t>
            </a:r>
          </a:p>
        </p:txBody>
      </p:sp>
      <p:pic>
        <p:nvPicPr>
          <p:cNvPr id="11" name="Picture 10" descr="cr_step3_morph_cl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280160"/>
            <a:ext cx="16002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28986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FFA500"/>
                </a:solidFill>
                <a:latin typeface="Times New Roman"/>
                <a:ea typeface="SimSun"/>
              </a:rPr>
              <a:t>Step3: 闭运算后
椭圆核11×11, iter=2</a:t>
            </a:r>
          </a:p>
        </p:txBody>
      </p:sp>
      <p:pic>
        <p:nvPicPr>
          <p:cNvPr id="13" name="Picture 12" descr="cr_step5_connected_regions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280160"/>
            <a:ext cx="160020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69480" y="289864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CC66FF"/>
                </a:solidFill>
                <a:latin typeface="Times New Roman"/>
                <a:ea typeface="SimSun"/>
              </a:rPr>
              <a:t>Step5: 连通域(10区域)
彩色叠加在Seg上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204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lang="zh-CN">
                <a:solidFill>
                  <a:srgbClr val="999999"/>
                </a:solidFill>
                <a:latin typeface="Times New Roman"/>
                <a:ea typeface="SimSun"/>
              </a:rPr>
              <a:t>稀疏血管区域 — Tile(55,69) → 8 个连通域</a:t>
            </a:r>
          </a:p>
        </p:txBody>
      </p:sp>
      <p:pic>
        <p:nvPicPr>
          <p:cNvPr id="16" name="Picture 15" descr="cr_step1_foreground_m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3794760"/>
            <a:ext cx="1600200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" y="5413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00D2FF"/>
                </a:solidFill>
                <a:latin typeface="Times New Roman"/>
                <a:ea typeface="SimSun"/>
              </a:rPr>
              <a:t>Step1: 前景掩码</a:t>
            </a:r>
          </a:p>
        </p:txBody>
      </p:sp>
      <p:pic>
        <p:nvPicPr>
          <p:cNvPr id="18" name="Picture 17" descr="cr_step1_posneg_m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0" y="3794760"/>
            <a:ext cx="1600200" cy="1600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20240" y="5413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FF6B6B"/>
                </a:solidFill>
                <a:latin typeface="Times New Roman"/>
                <a:ea typeface="SimSun"/>
              </a:rPr>
              <a:t>Step1b: 阳/阴性分布</a:t>
            </a:r>
          </a:p>
        </p:txBody>
      </p:sp>
      <p:pic>
        <p:nvPicPr>
          <p:cNvPr id="20" name="Picture 19" descr="cr_step2a_seg_positi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3320" y="3794760"/>
            <a:ext cx="1600200" cy="1600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03320" y="5413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4ECB71"/>
                </a:solidFill>
                <a:latin typeface="Times New Roman"/>
                <a:ea typeface="SimSun"/>
              </a:rPr>
              <a:t>Step2: Seg阳性区域</a:t>
            </a:r>
          </a:p>
        </p:txBody>
      </p:sp>
      <p:pic>
        <p:nvPicPr>
          <p:cNvPr id="22" name="Picture 21" descr="cr_step3_morph_clo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3794760"/>
            <a:ext cx="1600200" cy="1600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0" y="5413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FFA500"/>
                </a:solidFill>
                <a:latin typeface="Times New Roman"/>
                <a:ea typeface="SimSun"/>
              </a:rPr>
              <a:t>Step3: 闭运算后</a:t>
            </a:r>
          </a:p>
        </p:txBody>
      </p:sp>
      <p:pic>
        <p:nvPicPr>
          <p:cNvPr id="24" name="Picture 23" descr="cr_step5_connected_regions_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3794760"/>
            <a:ext cx="1600200" cy="1600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69480" y="5413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a:lang="zh-CN">
                <a:solidFill>
                  <a:srgbClr val="CC66FF"/>
                </a:solidFill>
                <a:latin typeface="Times New Roman"/>
                <a:ea typeface="SimSun"/>
              </a:rPr>
              <a:t>Step5: 连通域(8区域)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852160"/>
            <a:ext cx="8595360" cy="502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70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关键观察: 形态学闭运算 (Step3) 将断裂的血管壁连接成完整区域, 使 SAM2 能获得连贯的 Mask 提示。
对比 Step2→Step3: 分散的小绿块被合并为大白块。连通域数量 = 最终送入 SAM2 的候选区域数。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05  SAM2 Mask-Only 推理 — 算法详解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将每个连通域转换为 256x256 logit 掩码作为提示, 由 SAM2 生成精确的实例分割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371600"/>
            <a:ext cx="2103120" cy="2103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1. Mask Prompt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9659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初始化全图 logit = -5.0 (背景)
前景像素设为 +5.0 (前景)
缩放至 256x256 (INTER_AREA)
输出 shape: (1, 256, 256) float32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1371600"/>
            <a:ext cx="2103120" cy="2103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4ECB71"/>
                </a:solidFill>
                <a:latin typeface="Times New Roman"/>
                <a:ea typeface="SimSun"/>
              </a:rPr>
              <a:t>2. SAM2 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659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输入: 256x256 logit prompt
多掩码输出模式: 开启
输出: masks (3, H, W) bool
输出: scores (3,) float | 选最高分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576" y="1371600"/>
            <a:ext cx="2103120" cy="2103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3. 置信度优先合并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659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逐像素比较置信度:
若新实例分数 &gt; 当前分数:
  则该像素归属新实例
  更新该像素的置信度记录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21424" y="1371600"/>
            <a:ext cx="2103120" cy="2103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C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1417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CC66FF"/>
                </a:solidFill>
                <a:latin typeface="Times New Roman"/>
                <a:ea typeface="SimSun"/>
              </a:rPr>
              <a:t>4. 过滤与后处理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96596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score &lt; 0.05 的实例被移除
二值化后做连通域分析
面积 &lt; 200px 的碎片被移除
相连实例合并, 取平均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00D2FF"/>
                </a:solidFill>
                <a:latin typeface="Times New Roman"/>
                <a:ea typeface="SimSun"/>
              </a:rPr>
              <a:t>效果: Tile(55,69) — 8 个连通域 -&gt; SAM2 -&gt; 合并后 5 个实例</a:t>
            </a:r>
          </a:p>
        </p:txBody>
      </p:sp>
      <p:pic>
        <p:nvPicPr>
          <p:cNvPr id="18" name="Picture 17" descr="step3_positive_cells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23360"/>
            <a:ext cx="2286000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3276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4ECB71"/>
                </a:solidFill>
                <a:latin typeface="Times New Roman"/>
                <a:ea typeface="SimSun"/>
              </a:rPr>
              <a:t>提取结果: 8 个阳性区域 (绿色叠加原图)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834640" y="507492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ep4_sam2_raw_8i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023360"/>
            <a:ext cx="2286000" cy="2286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91840" y="63276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FFA500"/>
                </a:solidFill>
                <a:latin typeface="Times New Roman"/>
                <a:ea typeface="SimSun"/>
              </a:rPr>
              <a:t>SAM2 原始输出: 8 个实例 (每色=1实例)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669280" y="507492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tep5_merged_5in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023360"/>
            <a:ext cx="2286000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26480" y="632764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CC66FF"/>
                </a:solidFill>
                <a:latin typeface="Times New Roman"/>
                <a:ea typeface="SimSun"/>
              </a:rPr>
              <a:t>合并后: 5 个最终实例 (面积过滤 min_area=200)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06  SAM2 掩码提示词 (Mask Prompt) 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lang="zh-CN">
                <a:solidFill>
                  <a:srgbClr val="999999"/>
                </a:solidFill>
                <a:latin typeface="Times New Roman"/>
                <a:ea typeface="SimSun"/>
              </a:rPr>
              <a:t>从连通域提取结果生成 SAM2 的 Mask Prompt 输入, 引导模型精确分割每个血管实例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82880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连通域区域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单个阳性区域坐标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21408" y="1508760"/>
            <a:ext cx="164592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280160"/>
            <a:ext cx="182880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Logit 掩码初始化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全图 = -5.0, 前景 = +5.0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3088" y="1508760"/>
            <a:ext cx="164592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182880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缩放至 256x256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INTER_AREA 插值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44768" y="1508760"/>
            <a:ext cx="164592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182880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SAM2 推理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输出 3 个候选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03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示例 A: Tile(55,69) Instance #1 — 大型血管, 高置信度 (score=0.93)</a:t>
            </a:r>
          </a:p>
        </p:txBody>
      </p:sp>
      <p:pic>
        <p:nvPicPr>
          <p:cNvPr id="13" name="Picture 12" descr="input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77440"/>
            <a:ext cx="1737360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4133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a:lang="zh-CN">
                <a:solidFill>
                  <a:srgbClr val="00D2FF"/>
                </a:solidFill>
                <a:latin typeface="Times New Roman"/>
                <a:ea typeface="SimSun"/>
              </a:rPr>
              <a:t>输入: 连通域区域
(原图上的单个阳性区域)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03120" y="315468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nput_mask_prompt_256x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377440"/>
            <a:ext cx="1737360" cy="1737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377440" y="413308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a:lang="zh-CN">
                <a:solidFill>
                  <a:srgbClr val="FF6B6B"/>
                </a:solidFill>
                <a:latin typeface="Times New Roman"/>
                <a:ea typeface="SimSun"/>
              </a:rPr>
              <a:t>Mask Prompt (256x256)
白=+5.0 前景, 黑=-5.0 背景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206240" y="315468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arison_3_ma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377440"/>
            <a:ext cx="4389120" cy="1234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8056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a:lang="zh-CN">
                <a:solidFill>
                  <a:srgbClr val="4ECB71"/>
                </a:solidFill>
                <a:latin typeface="Times New Roman"/>
                <a:ea typeface="SimSun"/>
              </a:rPr>
              <a:t>SAM2 输出: 3 个候选掩码 (score: 0.92 / 0.90 / 0.93)
选择 score 最高者 #2 (score=0.933) 为最终结果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434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FF6B6B"/>
                </a:solidFill>
                <a:latin typeface="Times New Roman"/>
                <a:ea typeface="SimSun"/>
              </a:rPr>
              <a:t>示例 B: Tile(63,72) Instance #1 — 小区域, 低置信度 (score=0.43)</a:t>
            </a:r>
          </a:p>
        </p:txBody>
      </p:sp>
      <p:pic>
        <p:nvPicPr>
          <p:cNvPr id="22" name="Picture 21" descr="input_clu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709160"/>
            <a:ext cx="1737360" cy="1737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4320" y="64648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a:lang="zh-CN">
                <a:solidFill>
                  <a:srgbClr val="00D2FF"/>
                </a:solidFill>
                <a:latin typeface="Times New Roman"/>
                <a:ea typeface="SimSun"/>
              </a:rPr>
              <a:t>输入: 连通域区域
(较小的阳性区域)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03120" y="548640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nput_mask_prompt_256x2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4709160"/>
            <a:ext cx="1737360" cy="1737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377440" y="646480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a:lang="zh-CN">
                <a:solidFill>
                  <a:srgbClr val="FF6B6B"/>
                </a:solidFill>
                <a:latin typeface="Times New Roman"/>
                <a:ea typeface="SimSun"/>
              </a:rPr>
              <a:t>Mask Prompt (256x256)
小区域在掩码中占比较小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206240" y="548640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mparison_3_mas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709160"/>
            <a:ext cx="4389120" cy="1234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80560" y="5989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a:lang="zh-CN">
                <a:solidFill>
                  <a:srgbClr val="FF6B6B"/>
                </a:solidFill>
                <a:latin typeface="Times New Roman"/>
                <a:ea typeface="SimSun"/>
              </a:rPr>
              <a:t>SAM2 输出: 3 个候选掩码 (score: 0.43 / 0.0001 / 0.04)
小区域 SAM2 信心不足, 仅 #0 有效 (score=0.43), 后处理可能被过滤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06 (续)  SAM2 三候选掩码对比 — 实际示例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lang="zh-CN">
                <a:solidFill>
                  <a:srgbClr val="999999"/>
                </a:solidFill>
                <a:latin typeface="Times New Roman"/>
                <a:ea typeface="SimSun"/>
              </a:rPr>
              <a:t>每个连通域生成 3 个候选 mask, 选 score 最高者 (标 BEST)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示例 A:  Tile(55,69) Instance #1 — 大型血管, cluster=12003px, score: 0.92/0.90/0.93(BEST)</a:t>
            </a:r>
          </a:p>
        </p:txBody>
      </p:sp>
      <p:pic>
        <p:nvPicPr>
          <p:cNvPr id="6" name="Picture 5" descr="comparison_3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5943600" cy="1691640"/>
          </a:xfrm>
          <a:prstGeom prst="rect">
            <a:avLst/>
          </a:prstGeom>
        </p:spPr>
      </p:pic>
      <p:pic>
        <p:nvPicPr>
          <p:cNvPr id="7" name="Picture 6" descr="input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114300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80720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FFA500"/>
                </a:solidFill>
                <a:latin typeface="Times New Roman"/>
                <a:ea typeface="SimSun"/>
              </a:rPr>
              <a:t>输入连通域</a:t>
            </a:r>
          </a:p>
        </p:txBody>
      </p:sp>
      <p:pic>
        <p:nvPicPr>
          <p:cNvPr id="9" name="Picture 8" descr="input_mask_prompt_256x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645920"/>
            <a:ext cx="114300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280720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FFA500"/>
                </a:solidFill>
                <a:latin typeface="Times New Roman"/>
                <a:ea typeface="SimSun"/>
              </a:rPr>
              <a:t>Mask Prompt
(256×256 logit)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429000"/>
            <a:ext cx="8595360" cy="3657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高分场景: 3 个候选形状各异但分数都 &gt;0.89 — mask_areas: 10217 / 16025 / 11987 — 选 #2 (score=0.933, area=11987)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776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FF6B6B"/>
                </a:solidFill>
                <a:latin typeface="Times New Roman"/>
                <a:ea typeface="SimSun"/>
              </a:rPr>
              <a:t>示例 B:  Tile(63,72) Instance #1 — 小区域, score: 0.43(BEST)/0.0001/0.04</a:t>
            </a:r>
          </a:p>
        </p:txBody>
      </p:sp>
      <p:pic>
        <p:nvPicPr>
          <p:cNvPr id="14" name="Picture 13" descr="comparison_3_mas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297680"/>
            <a:ext cx="5943600" cy="1691640"/>
          </a:xfrm>
          <a:prstGeom prst="rect">
            <a:avLst/>
          </a:prstGeom>
        </p:spPr>
      </p:pic>
      <p:pic>
        <p:nvPicPr>
          <p:cNvPr id="15" name="Picture 14" descr="input_clu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97680"/>
            <a:ext cx="1143000" cy="1143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54589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FFA500"/>
                </a:solidFill>
                <a:latin typeface="Times New Roman"/>
                <a:ea typeface="SimSun"/>
              </a:rPr>
              <a:t>输入连通域</a:t>
            </a:r>
          </a:p>
        </p:txBody>
      </p:sp>
      <p:pic>
        <p:nvPicPr>
          <p:cNvPr id="17" name="Picture 16" descr="input_mask_prompt_256x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4297680"/>
            <a:ext cx="1143000" cy="114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80960" y="54589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FFA500"/>
                </a:solidFill>
                <a:latin typeface="Times New Roman"/>
                <a:ea typeface="SimSun"/>
              </a:rPr>
              <a:t>Mask Prompt
(256×256 logit)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6080760"/>
            <a:ext cx="8595360" cy="3657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081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低分场景: 候选 #1 只覆盖边角小块 (score=0.43), #0/#2 几乎为空 — 小区域 SAM2 信心不足, 后处理可能被过滤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07  后处理与合并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lang="zh-CN">
                <a:solidFill>
                  <a:srgbClr val="999999"/>
                </a:solidFill>
                <a:latin typeface="Times New Roman"/>
                <a:ea typeface="SimSun"/>
              </a:rPr>
              <a:t>将 SAM2 原始输出清理为最终实例分割结果: 去重叠、去碎片、合并相连区域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920240" cy="7772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SAM2 原始 mask
(可能有重叠/粘连)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166878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5728" y="1371600"/>
            <a:ext cx="1920240" cy="7772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二值化
→ connectedComponents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34256" y="166878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7136" y="1371600"/>
            <a:ext cx="1920240" cy="7772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面积过滤
&lt; 200px → 移除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55664" y="166878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38544" y="1371600"/>
            <a:ext cx="1920240" cy="7772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新 ID 分配
合并相连实例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377440"/>
            <a:ext cx="4114800" cy="25603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00D2FF"/>
                </a:solidFill>
                <a:latin typeface="Times New Roman"/>
                <a:ea typeface="SimSun"/>
              </a:rPr>
              <a:t>合并逻辑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将 instance_mask &gt; 0 二值化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cv2.connectedComponents 找连通区域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每个连通区域可能包含多个旧实例 ID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(SAM2 输出的相邻实例被合并)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取成员实例的 avg_score 作为新分数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merge_mapping: {旧ID: 新ID}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输出 merged_mask: uint16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(支持 &gt;255 个实例)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377440"/>
            <a:ext cx="4114800" cy="25603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4231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FFA500"/>
                </a:solidFill>
                <a:latin typeface="Times New Roman"/>
                <a:ea typeface="SimSun"/>
              </a:rPr>
              <a:t>面积过滤与质量控制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69748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score_threshold = 0.05 (SAM2 阶段)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→ 过滤极低置信度结果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min_area = 200 (合并阶段)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→ 移除面积过小的碎片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置信度优先合并 (SAM2 阶段):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重叠像素由高分实例占据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低分实例被部分覆盖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100" a:lang="zh-CN">
                <a:solidFill>
                  <a:srgbClr val="CCCCCC"/>
                </a:solidFill>
                <a:latin typeface="Times New Roman"/>
                <a:ea typeface="SimSun"/>
              </a:rPr>
              <a:t>最终 area = combined_mask 中实际像素数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66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a:lang="zh-CN">
                <a:solidFill>
                  <a:srgbClr val="4ECB71"/>
                </a:solidFill>
                <a:latin typeface="Times New Roman"/>
                <a:ea typeface="SimSun"/>
              </a:rPr>
              <a:t>效果对比: Tile(63,72)</a:t>
            </a:r>
          </a:p>
        </p:txBody>
      </p:sp>
      <p:pic>
        <p:nvPicPr>
          <p:cNvPr id="19" name="Picture 18" descr="step3_positive_cells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40680"/>
            <a:ext cx="1463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922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4ECB71"/>
                </a:solidFill>
                <a:latin typeface="Times New Roman"/>
                <a:ea typeface="SimSun"/>
              </a:rPr>
              <a:t>提取: 10 区域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11680" y="608076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ep4_sam2_raw_10i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5440680"/>
            <a:ext cx="1463040" cy="1463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31720" y="6922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FFA500"/>
                </a:solidFill>
                <a:latin typeface="Times New Roman"/>
                <a:ea typeface="SimSun"/>
              </a:rPr>
              <a:t>SAM2: 10 实例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86200" y="6080760"/>
            <a:ext cx="18288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tep5_merged_10in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5440680"/>
            <a:ext cx="1463040" cy="1463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06240" y="6922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a:lang="zh-CN">
                <a:solidFill>
                  <a:srgbClr val="CC66FF"/>
                </a:solidFill>
                <a:latin typeface="Times New Roman"/>
                <a:ea typeface="SimSun"/>
              </a:rPr>
              <a:t>合并: 10 实例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5440680"/>
            <a:ext cx="2926080" cy="14630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FFD700"/>
                </a:solidFill>
                <a:latin typeface="Times New Roman"/>
                <a:ea typeface="SimSun"/>
              </a:rPr>
              <a:t>Tile(63,72) 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8064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送入 SAM2: 10 个连通域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SAM2 输出: 10 个实例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D700"/>
                </a:solidFill>
                <a:latin typeface="Times New Roman"/>
                <a:ea typeface="SimSun"/>
              </a:rPr>
              <a:t>       -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score 范围: 0.01 ~ 0.93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D700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合并后: 10 个最终实例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D700"/>
                </a:solidFill>
                <a:latin typeface="Times New Roman"/>
                <a:ea typeface="SimSun"/>
              </a:rPr>
              <a:t>       -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(此 Tile 无粘连/碎片)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08  Pipeline 完整示例 — 两种场景对比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Tile(63,72) — 密集微血管, 最终 10 实例</a:t>
            </a:r>
          </a:p>
        </p:txBody>
      </p:sp>
      <p:pic>
        <p:nvPicPr>
          <p:cNvPr id="5" name="Picture 4" descr="step1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96596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20954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1.原图</a:t>
            </a:r>
          </a:p>
        </p:txBody>
      </p:sp>
      <p:pic>
        <p:nvPicPr>
          <p:cNvPr id="7" name="Picture 6" descr="step2_deepliif_S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234440"/>
            <a:ext cx="1965960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23160" y="320954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2.Seg</a:t>
            </a:r>
          </a:p>
        </p:txBody>
      </p:sp>
      <p:pic>
        <p:nvPicPr>
          <p:cNvPr id="9" name="Picture 8" descr="cr_step2a_seg_posi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34440"/>
            <a:ext cx="196596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20954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3.阳性区域</a:t>
            </a:r>
          </a:p>
        </p:txBody>
      </p:sp>
      <p:pic>
        <p:nvPicPr>
          <p:cNvPr id="11" name="Picture 10" descr="step5_merged_10in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234440"/>
            <a:ext cx="196596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20840" y="320954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4.最终分割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6118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Tile(55,69) — 稀疏微���管, 最终 5 实例</a:t>
            </a:r>
          </a:p>
        </p:txBody>
      </p:sp>
      <p:pic>
        <p:nvPicPr>
          <p:cNvPr id="14" name="Picture 13" descr="step1_orig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886200"/>
            <a:ext cx="1965960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86130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4ECB71"/>
                </a:solidFill>
                <a:latin typeface="Times New Roman"/>
                <a:ea typeface="SimSun"/>
              </a:rPr>
              <a:t>1.原图</a:t>
            </a:r>
          </a:p>
        </p:txBody>
      </p:sp>
      <p:pic>
        <p:nvPicPr>
          <p:cNvPr id="16" name="Picture 15" descr="step2_deepliif_Se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3160" y="3886200"/>
            <a:ext cx="1965960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23160" y="586130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4ECB71"/>
                </a:solidFill>
                <a:latin typeface="Times New Roman"/>
                <a:ea typeface="SimSun"/>
              </a:rPr>
              <a:t>2.Seg</a:t>
            </a:r>
          </a:p>
        </p:txBody>
      </p:sp>
      <p:pic>
        <p:nvPicPr>
          <p:cNvPr id="18" name="Picture 17" descr="cr_step2a_seg_posit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886200"/>
            <a:ext cx="1965960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0" y="586130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4ECB71"/>
                </a:solidFill>
                <a:latin typeface="Times New Roman"/>
                <a:ea typeface="SimSun"/>
              </a:rPr>
              <a:t>3.阳性区域</a:t>
            </a:r>
          </a:p>
        </p:txBody>
      </p:sp>
      <p:pic>
        <p:nvPicPr>
          <p:cNvPr id="20" name="Picture 19" descr="step5_merged_5in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3886200"/>
            <a:ext cx="1965960" cy="1965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20840" y="5861304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4ECB71"/>
                </a:solidFill>
                <a:latin typeface="Times New Roman"/>
                <a:ea typeface="SimSun"/>
              </a:rPr>
              <a:t>4.最终分割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6263640"/>
            <a:ext cx="8595360" cy="4572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910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CCCCCC"/>
                </a:solidFill>
                <a:latin typeface="Times New Roman"/>
                <a:ea typeface="SimSun"/>
              </a:rPr>
              <a:t>对比: 密集场景检出更多实例 (10 vs 5); 稀疏场景 SAM2 仍能精确贴合血管轮廓;
两种场景使用相同参数 (seg_thresh=120, kernel=11, min_area=200)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09  WSI 全片处理 — 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lang="zh-CN">
                <a:solidFill>
                  <a:srgbClr val="999999"/>
                </a:solidFill>
                <a:latin typeface="Times New Roman"/>
                <a:ea typeface="SimSun"/>
              </a:rPr>
              <a:t>从 .ndpi/.svs 全片扫描图像直接处理, 输出 NPY 掩码和 GeoJSON 标注文件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371600"/>
            <a:ext cx="3291840" cy="7315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00D2FF"/>
                </a:solidFill>
                <a:latin typeface="Times New Roman"/>
                <a:ea typeface="SimSun"/>
              </a:rPr>
              <a:t>Step 1: WSI 读取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OpenSlide 后端 | 自动选择倍率层级 | 512x512 tile 枚举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62272" y="2103120"/>
            <a:ext cx="219456" cy="164592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267712"/>
            <a:ext cx="3291840" cy="7315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Step 2: YOLO 背景过滤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YOLOv11-cls 二分类 | 流式推理 | 跳过背景 tile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2999232"/>
            <a:ext cx="219456" cy="164592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3163824"/>
            <a:ext cx="3291840" cy="7315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Step 3: 多 GPU 并行处理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每 Worker: DeepLIIF -&gt; 提取 -&gt; SAM2 | 约 8GB/Worker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62272" y="3895344"/>
            <a:ext cx="219456" cy="164592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4059936"/>
            <a:ext cx="3291840" cy="7315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Step 4: 结果输出</a:t>
            </a:r>
          </a:p>
          <a:p>
            <a:pPr algn="ctr"/>
            <a:r>
              <a:rPr sz="1000" a:lang="zh-CN">
                <a:solidFill>
                  <a:srgbClr val="999999"/>
                </a:solidFill>
                <a:latin typeface="Times New Roman"/>
                <a:ea typeface="SimSun"/>
              </a:rPr>
              <a:t>NPY 掩码保存 + GeoJSON 导出 (QuPath 兼容)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62272" y="4791456"/>
            <a:ext cx="219456" cy="164592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" y="1371600"/>
            <a:ext cx="2651760" cy="20116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WSI 读取细节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6916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支持 .ndpi / .svs / .tiff 格式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自动选择最接近目标倍率的层级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参数: target_magnification=40x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枚举 tile: stride=512, 无 overlap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可选预加载: 按 4096 行条读入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后续 read_tile 零拷贝切片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crop-csv: 仅处理指定 ROI 区域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3566160"/>
            <a:ext cx="265176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611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FF6B6B"/>
                </a:solidFill>
                <a:latin typeface="Times New Roman"/>
                <a:ea typeface="SimSun"/>
              </a:rPr>
              <a:t>YOLO 背景过滤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88620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YOLOv11-cls 模型 (二分类: bg/target)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batch_size=64, half=True (FP16)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4 个预取线程并行加载图像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流式回调: 目标 tile 直接入队列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tile_map CSV: 可保存分类结果复用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900" a:lang="zh-CN">
                <a:solidFill>
                  <a:srgbClr val="CCCCCC"/>
                </a:solidFill>
                <a:latin typeface="Times New Roman"/>
                <a:ea typeface="SimSun"/>
              </a:rPr>
              <a:t>classify-only 模式: 仅分类不处理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5394960"/>
            <a:ext cx="8778240" cy="12801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4ECB71"/>
                </a:solidFill>
                <a:latin typeface="Times New Roman"/>
                <a:ea typeface="SimSun"/>
              </a:rPr>
              <a:t>多 GPU 并行策略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15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自动检测可用 GPU 及显存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YOLO 分配至空闲最少但够用的 GPU (约 1.5GB)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Worker 分配至空闲最多的 GPU (约 8GB/worker)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流水线: YOLO 线程 -&gt; 队列 -&gt; Worker 进程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7150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单设备模式: YOLO + DeepLIIF/SAM2 共享 GPU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YOLO 后台线程 -&gt; tile 队列 -&gt; 主线程处理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多设备模式: spawn Worker 进程 (各自加载模型)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Worker 从队列消费 tile 直到完成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10  GeoJSON 导出详解 — 从 Tile 掩码到 QuPath 标注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a:lang="zh-CN">
                <a:solidFill>
                  <a:srgbClr val="999999"/>
                </a:solidFill>
                <a:latin typeface="Times New Roman"/>
                <a:ea typeface="SimSun"/>
              </a:rPr>
              <a:t>四步流程: 将分散在各 tile 中的 NPY 掩码合并为完整的全图标注文件, 可直接在 QuPath 中加载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8595360" cy="11430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Pass 1: 逐 Tile 轮廓提取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遍历所有 tile 的 NPY 掩码文件, 对每个实例 ID 做轮廓提取:
  1) 二值化单个实例 -&gt; 轮廓检测
  2) 可选简化: epsilon = simplify x 周长 (默认 simplify=0.002)
  3) 面积过滤: 跳过 &lt; min_area (默认 50px) 的轮廓
  4) 坐标转换: 局部坐标 + tile 偏移量 -&gt; 全图坐标
  5) 转为 Shapely Polygon 对象, 按全局实例 ID 存储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2272" y="2514600"/>
            <a:ext cx="219456" cy="109728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2624328"/>
            <a:ext cx="8595360" cy="11430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FF6B6B"/>
                </a:solidFill>
                <a:latin typeface="Times New Roman"/>
                <a:ea typeface="SimSun"/>
              </a:rPr>
              <a:t>Pass 2: Union-Find 跨 Tile 边界合并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8648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扫描相邻 tile 的边界像素, 检测跨 tile 的同一实例:
  1) 右邻 tile: 比较 A 的右边缘列 vs B 的左边缘列
  2) 下邻 tile: 比较 A 的底边缘行 vs B 的顶边缘行
  3) 同一行/列位置如果两侧都有前景像素, 则 Union-Find 合并
  确保跨 tile 边界的血管实例被正确识别为同一个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62272" y="3767328"/>
            <a:ext cx="219456" cy="109728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3877056"/>
            <a:ext cx="8595360" cy="11430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2277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FFA500"/>
                </a:solidFill>
                <a:latin typeface="Times New Roman"/>
                <a:ea typeface="SimSun"/>
              </a:rPr>
              <a:t>Pass 3: 几何合并 (Shapely)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51376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按 Union-Find 的 root ID 聚合所有多边形:
  1) 同一实例的多个多边形做 unary_union 合并
  2) buffer(1).buffer(-1): 膨胀再收缩, 消除 tile 接缝
  3) 验证几何有效性, 无效则用 make_valid 修复
  4) MultiPolygon 拆分为独立 Polygon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462272" y="5020056"/>
            <a:ext cx="219456" cy="109728"/>
          </a:xfrm>
          <a:prstGeom prst="down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5129784"/>
            <a:ext cx="8595360" cy="11430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755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Pass 4: 验证与导出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0410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生成 QuPath 兼容的 GeoJSON 格式:
  1) 每个 Polygon 转为 Feature (objectType: detection)
  2) 分类标签: classification.name = CD34+
  3) 坐标整数化, 环闭合验证, 至少 4 个点
  4) 输出: JSON 数组 (QuPath 直接导入)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6382512"/>
            <a:ext cx="8595360" cy="4114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a:lang="zh-CN">
                <a:solidFill>
                  <a:srgbClr val="1B1B2F"/>
                </a:solidFill>
                <a:latin typeface="Times New Roman"/>
                <a:ea typeface="SimSun"/>
              </a:rPr>
              <a:t>QuPath 导入: File -&gt; Open -&gt; 选择原图 .ndpi | File -&gt; Object -&gt; Import objects -&gt; 选择 .geojson
导出参数: simplify=0.002 (轮廓简化) | min_area=50 (最小面积) | 坐标系 = 全图像素坐标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11  关键参数详表与调优建议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1170432"/>
            <a:ext cx="868680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1B1B2F"/>
                </a:solidFill>
                <a:latin typeface="Times New Roman"/>
                <a:ea typeface="SimSun"/>
              </a:rPr>
              <a:t>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1887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1B1B2F"/>
                </a:solidFill>
                <a:latin typeface="Times New Roman"/>
                <a:ea typeface="SimSun"/>
              </a:rPr>
              <a:t>默认值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1B1B2F"/>
                </a:solidFill>
                <a:latin typeface="Times New Roman"/>
                <a:ea typeface="SimSun"/>
              </a:rPr>
              <a:t>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a:lang="zh-CN">
                <a:solidFill>
                  <a:srgbClr val="1B1B2F"/>
                </a:solidFill>
                <a:latin typeface="Times New Roman"/>
                <a:ea typeface="SimSun"/>
              </a:rPr>
              <a:t>调优建议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472184"/>
            <a:ext cx="8686800" cy="256032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8132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--seg-thresh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48132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813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(R+B)&gt;thresh 前景检测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染色淡→80~100, 深→120~150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73736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--marker-thresh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73736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auto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73736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99.9%ile×0.9, 阳性辅助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None=自动, 或手动指定 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1984248"/>
            <a:ext cx="8686800" cy="256032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99339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--morphology-kernel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199339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199339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闭运算椭圆核大小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933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密集→11~15, 稀疏→7~9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2494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--min-mask-area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2494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24942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最小连通域面积 (送入SAM2)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494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噪点多→增大, 小血管→减小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2496312"/>
            <a:ext cx="8686800" cy="256032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25054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merge min_area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50545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250545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合并后最小实例面积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054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过滤碎片, 一般不改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27614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score_threshold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276148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0.05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27614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SAM2 最低置信度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76148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极端场景→降至 0.01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3008376"/>
            <a:ext cx="8686800" cy="256032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0175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--use-connected-regions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01752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推荐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01752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启用连通域模式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175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比个体细胞模式效果好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327355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--resolution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327355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40x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2735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影响面积阈值自动计算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27355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匹配实际倍率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" y="3520440"/>
            <a:ext cx="8686800" cy="256032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52958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--seg-weights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52958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各0.2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35295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G51-G55 聚合权重 (5个float)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52958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通常不需修改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378561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--num-gpus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37856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auto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78561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GPU 数量 (0=自动检测)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78561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限制→设具体数字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8600" y="4032504"/>
            <a:ext cx="8686800" cy="256032"/>
          </a:xfrm>
          <a:prstGeom prst="roundRect">
            <a:avLst/>
          </a:prstGeom>
          <a:solidFill>
            <a:srgbClr val="2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04164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a:lang="zh-CN">
                <a:solidFill>
                  <a:srgbClr val="FFFFFF"/>
                </a:solidFill>
                <a:latin typeface="Times New Roman"/>
                <a:ea typeface="SimSun"/>
              </a:rPr>
              <a:t>--yolo-batch-size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40416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64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40416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YOLO 分类批大小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04164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a:lang="zh-CN">
                <a:solidFill>
                  <a:srgbClr val="CCCCCC"/>
                </a:solidFill>
                <a:latin typeface="Times New Roman"/>
                <a:ea typeface="SimSun"/>
              </a:rPr>
              <a:t>显存紧张→减小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4434840"/>
            <a:ext cx="4114800" cy="2103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480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FF6B6B"/>
                </a:solidFill>
                <a:latin typeface="Times New Roman"/>
                <a:ea typeface="SimSun"/>
              </a:rPr>
              <a:t>seg_thresh 调优 (最关键参数)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控制前景/背景分界线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↑ 增大 → 更严格, 减少假阳性, 可能漏检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↓ 减小 → 更敏感, 增加检出, 可能引入噪点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操作: 用 --tile-index + --debug-vis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查看 cr_step1_foreground_mask.png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6B6B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确认前景覆盖所有可见血管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63440" y="4434840"/>
            <a:ext cx="4114800" cy="21031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0" y="4480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a:lang="zh-CN">
                <a:solidFill>
                  <a:srgbClr val="FFA500"/>
                </a:solidFill>
                <a:latin typeface="Times New Roman"/>
                <a:ea typeface="SimSun"/>
              </a:rPr>
              <a:t>morphology_kernel 调优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6320" y="47548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控制相邻阳性像素的连接程度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↑ 增大 → 合并更多断裂区域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大血管壁断裂时需要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↓ 减小 → 保持细粒度分割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     -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避免不同血管被错误合并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a:lang="zh-CN">
                <a:solidFill>
                  <a:srgbClr val="FFA500"/>
                </a:solidFill>
                <a:latin typeface="Times New Roman"/>
                <a:ea typeface="SimSun"/>
              </a:rPr>
              <a:t>  &gt;  </a:t>
            </a:r>
            <a:r>
              <a:rPr sz="1000" a:lang="zh-CN">
                <a:solidFill>
                  <a:srgbClr val="CCCCCC"/>
                </a:solidFill>
                <a:latin typeface="Times New Roman"/>
                <a:ea typeface="SimSun"/>
              </a:rPr>
              <a:t>操作: 对比 cr_step2a vs cr_step3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lang="zh-CN">
                <a:solidFill>
                  <a:srgbClr val="FFFFFF"/>
                </a:solidFill>
                <a:latin typeface="Times New Roman"/>
                <a:ea typeface="SimSun"/>
              </a:rPr>
              <a:t>  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50292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lang="zh-CN">
                <a:solidFill>
                  <a:srgbClr val="00D2FF"/>
                </a:solidFill>
                <a:latin typeface="Times New Roman"/>
                <a:ea typeface="SimSun"/>
              </a:rPr>
              <a:t>技术路线总结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DeepLIIF + SAM2 混合流水线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虚拟染色分解 + 通用分割模型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核心创新: 连通域提取模式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Seg+Marker 联合 → 形态学 → 完整区域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优于逐个细胞提取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Mask-Only 提示策略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logit ±5 Prompt → 3 候选 → 最优选择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置信度优先重叠消解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WSI 全片处理能力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YOLO 流式过滤 + 多 GPU 并行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GeoJSON → QuPath 直接加载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完善的可视化诊断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每步中间结果 + SAM2 实例级调试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00D2FF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模块化设计, ~6000 行代码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097280"/>
            <a:ext cx="4114800" cy="50292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a:lang="zh-CN">
                <a:solidFill>
                  <a:srgbClr val="4ECB71"/>
                </a:solidFill>
                <a:latin typeface="Times New Roman"/>
                <a:ea typeface="SimSun"/>
              </a:rPr>
              <a:t>后续工作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定量评估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与病理医生手工标注对比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Dice / IoU / F1 指标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阈值自适应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根据染色条件自动调整 seg_thresh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减少人工参数调节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模型微调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在本领域数据上 fine-tune SAM2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提升小型微血管检测精度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扩展标志物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CD31, Factor VIII 等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推理加速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TensorRT / ONNX 部署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&gt;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Web UI 交互平台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a:lang="zh-CN">
                <a:solidFill>
                  <a:srgbClr val="4ECB71"/>
                </a:solidFill>
                <a:latin typeface="Times New Roman"/>
                <a:ea typeface="SimSun"/>
              </a:rPr>
              <a:t>       -  </a:t>
            </a:r>
            <a:r>
              <a:rPr sz="1200" a:lang="zh-CN">
                <a:solidFill>
                  <a:srgbClr val="CCCCCC"/>
                </a:solidFill>
                <a:latin typeface="Times New Roman"/>
                <a:ea typeface="SimSun"/>
              </a:rPr>
              <a:t>在线标注校对与结果浏览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a:lang="zh-CN">
                <a:solidFill>
                  <a:srgbClr val="FFFFFF"/>
                </a:solidFill>
                <a:latin typeface="Times New Roman"/>
                <a:ea typeface="SimSun"/>
              </a:rPr>
              <a:t>谢谢!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a:lang="zh-CN">
                <a:solidFill>
                  <a:srgbClr val="00D2FF"/>
                </a:solidFill>
                <a:latin typeface="Times New Roman"/>
                <a:ea typeface="SimSun"/>
              </a:rPr>
              <a:t>欢迎提问与讨论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768096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ep1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3280"/>
            <a:ext cx="1828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30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原图</a:t>
            </a:r>
          </a:p>
        </p:txBody>
      </p:sp>
      <p:pic>
        <p:nvPicPr>
          <p:cNvPr id="8" name="Picture 7" descr="step5_merged_5in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38328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0" y="5230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5 实例</a:t>
            </a:r>
          </a:p>
        </p:txBody>
      </p:sp>
      <p:pic>
        <p:nvPicPr>
          <p:cNvPr id="10" name="Picture 9" descr="step1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83280"/>
            <a:ext cx="18288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5230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原图</a:t>
            </a:r>
          </a:p>
        </p:txBody>
      </p:sp>
      <p:pic>
        <p:nvPicPr>
          <p:cNvPr id="12" name="Picture 11" descr="step5_merged_10in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38328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5230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a:lang="zh-CN">
                <a:solidFill>
                  <a:srgbClr val="999999"/>
                </a:solidFill>
                <a:latin typeface="Times New Roman"/>
                <a:ea typeface="SimSun"/>
              </a:rPr>
              <a:t>10 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a:lang="zh-CN">
                <a:solidFill>
                  <a:srgbClr val="999999"/>
                </a:solidFill>
                <a:latin typeface="Times New Roman"/>
                <a:ea typeface="SimSun"/>
              </a:rPr>
              <a:t>CD34 Microvessel Detection  |  DeepLIIF + SAM2  |  Pipeline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