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Relationship Id="rId4" Type="http://schemas.openxmlformats.org/officeDocument/2006/relationships/image" Target="../media/image2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9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841248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Microsoft YaHei"/>
              </a:defRPr>
            </a:pPr>
            <a:r>
              <a:t>CD34 微血管识别项目当前进展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325880"/>
            <a:ext cx="786384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5B6574"/>
                </a:solidFill>
                <a:latin typeface="Microsoft YaHei"/>
              </a:defRPr>
            </a:pPr>
            <a:r>
              <a:t>基于 test08 的完整流程说明：每一步的输入、功能、逻辑和输出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658368"/>
            <a:ext cx="4663440" cy="5541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region_geojson_overl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890" y="731520"/>
            <a:ext cx="4351898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48272" y="5971032"/>
            <a:ext cx="451713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当前最终效果：自动生成的微血管 GeoJSON 叠加到原图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240280"/>
            <a:ext cx="1508760" cy="777240"/>
          </a:xfrm>
          <a:prstGeom prst="roundRect">
            <a:avLst/>
          </a:prstGeom>
          <a:solidFill>
            <a:srgbClr val="E7F0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350008"/>
            <a:ext cx="136245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800" b="1">
                <a:solidFill>
                  <a:srgbClr val="2863AF"/>
                </a:solidFill>
                <a:latin typeface="Microsoft YaHei"/>
              </a:defRPr>
            </a:pPr>
            <a: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697480"/>
            <a:ext cx="1362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处理 tile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50592" y="2240280"/>
            <a:ext cx="1508760" cy="777240"/>
          </a:xfrm>
          <a:prstGeom prst="roundRect">
            <a:avLst/>
          </a:prstGeom>
          <a:solidFill>
            <a:srgbClr val="FCECE8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23744" y="2350008"/>
            <a:ext cx="136245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800" b="1">
                <a:solidFill>
                  <a:srgbClr val="A0362D"/>
                </a:solidFill>
                <a:latin typeface="Microsoft YaHei"/>
              </a:defRPr>
            </a:pPr>
            <a:r>
              <a:t>404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3744" y="2697480"/>
            <a:ext cx="1362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最终区域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87952" y="2240280"/>
            <a:ext cx="1508760" cy="777240"/>
          </a:xfrm>
          <a:prstGeom prst="roundRect">
            <a:avLst/>
          </a:prstGeom>
          <a:solidFill>
            <a:srgbClr val="E5F6EE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61104" y="2350008"/>
            <a:ext cx="136245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800" b="1">
                <a:solidFill>
                  <a:srgbClr val="2A875C"/>
                </a:solidFill>
                <a:latin typeface="Microsoft YaHei"/>
              </a:defRPr>
            </a:pPr>
            <a:r>
              <a:t>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1104" y="2697480"/>
            <a:ext cx="1362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跨 tile 合并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429000"/>
            <a:ext cx="516636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3429000"/>
            <a:ext cx="64008" cy="1600200"/>
          </a:xfrm>
          <a:prstGeom prst="rect">
            <a:avLst/>
          </a:prstGeom>
          <a:solidFill>
            <a:srgbClr val="28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566160"/>
            <a:ext cx="48463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863AF"/>
                </a:solidFill>
                <a:latin typeface="Microsoft YaHei"/>
              </a:defRPr>
            </a:pPr>
            <a:r>
              <a:t>本次汇报读法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904488"/>
            <a:ext cx="4846320" cy="10332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先看最终结果，再用一个具体 tile 逐步解释处理过程。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每一步都说明输入是什么、为什么要做、怎么判断、输出是什么。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最后回到整个 ROI，说明多个 tile 如何拼接成最终 GeoJSON。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06440"/>
            <a:ext cx="50749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300" b="1">
                <a:solidFill>
                  <a:srgbClr val="A0362D"/>
                </a:solidFill>
                <a:latin typeface="Microsoft YaHei"/>
              </a:defRPr>
            </a:pPr>
            <a:r>
              <a:t>样例 tile：tile_37_13_4992_14208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40" b="0">
                <a:solidFill>
                  <a:srgbClr val="5B6574"/>
                </a:solidFill>
                <a:latin typeface="Microsoft YaHei"/>
              </a:defRPr>
            </a:pPr>
            <a:r>
              <a:t>CD34 test08 supervisor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099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300" b="1">
                <a:solidFill>
                  <a:srgbClr val="111827"/>
                </a:solidFill>
                <a:latin typeface="Microsoft YaHei"/>
              </a:defRPr>
            </a:pPr>
            <a:r>
              <a:t>当前结果：pipeline 已能输出可复查的 CD34 微血管实例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50" b="0">
                <a:solidFill>
                  <a:srgbClr val="5B6574"/>
                </a:solidFill>
                <a:latin typeface="Microsoft YaHei"/>
              </a:defRPr>
            </a:pPr>
            <a:r>
              <a:t>红色区域是自动识别出的微血管实例，结果已经导出为 GeoJSON，可以在 QuPath 中复核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14984"/>
            <a:ext cx="11201400" cy="18288"/>
          </a:xfrm>
          <a:prstGeom prst="rect">
            <a:avLst/>
          </a:prstGeom>
          <a:solidFill>
            <a:srgbClr val="DD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4754880" cy="47457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region_original_mosa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908" y="1399032"/>
            <a:ext cx="3681783" cy="43708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" y="5843016"/>
            <a:ext cx="460857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输入 ROI 原图：含 tile 网格和目标区域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325880"/>
            <a:ext cx="4754880" cy="47457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_region_geojson_overl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828" y="1399032"/>
            <a:ext cx="3681783" cy="43708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42432" y="5843016"/>
            <a:ext cx="460857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输出结果：GeoJSON 实例轮廓叠加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52760" y="1691640"/>
            <a:ext cx="777240" cy="658368"/>
          </a:xfrm>
          <a:prstGeom prst="roundRect">
            <a:avLst/>
          </a:prstGeom>
          <a:solidFill>
            <a:srgbClr val="FCECE8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25912" y="1801368"/>
            <a:ext cx="63093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800" b="1">
                <a:solidFill>
                  <a:srgbClr val="A0362D"/>
                </a:solidFill>
                <a:latin typeface="Microsoft YaHei"/>
              </a:defRPr>
            </a:pPr>
            <a:r>
              <a:t>404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5912" y="2148840"/>
            <a:ext cx="63093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实例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52760" y="2542032"/>
            <a:ext cx="777240" cy="658368"/>
          </a:xfrm>
          <a:prstGeom prst="roundRect">
            <a:avLst/>
          </a:prstGeom>
          <a:solidFill>
            <a:srgbClr val="FFF4E2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25912" y="2651760"/>
            <a:ext cx="63093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800" b="1">
                <a:solidFill>
                  <a:srgbClr val="B27422"/>
                </a:solidFill>
                <a:latin typeface="Microsoft YaHei"/>
              </a:defRPr>
            </a:pPr>
            <a:r>
              <a:t>569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5912" y="2999232"/>
            <a:ext cx="63093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tile 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52760" y="3392424"/>
            <a:ext cx="777240" cy="658368"/>
          </a:xfrm>
          <a:prstGeom prst="roundRect">
            <a:avLst/>
          </a:prstGeom>
          <a:solidFill>
            <a:srgbClr val="E5F6EE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25912" y="3502152"/>
            <a:ext cx="63093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800" b="1">
                <a:solidFill>
                  <a:srgbClr val="2A875C"/>
                </a:solidFill>
                <a:latin typeface="Microsoft YaHei"/>
              </a:defRPr>
            </a:pPr>
            <a:r>
              <a:t>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5912" y="3849624"/>
            <a:ext cx="63093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合并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989320"/>
            <a:ext cx="1028700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6108192"/>
            <a:ext cx="99669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40" b="1">
                <a:solidFill>
                  <a:srgbClr val="A0362D"/>
                </a:solidFill>
                <a:latin typeface="Microsoft YaHei"/>
              </a:defRPr>
            </a:pPr>
            <a:r>
              <a:t>一句话结论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6419088"/>
            <a:ext cx="9966960" cy="-91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目前已经跑通“WSI 区域 -&gt; tile 处理 -&gt; SAM2 分割 -&gt; 跨 tile 拼接 -&gt; GeoJSON 输出”的完整链路。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40" b="0">
                <a:solidFill>
                  <a:srgbClr val="5B6574"/>
                </a:solidFill>
                <a:latin typeface="Microsoft YaHei"/>
              </a:defRPr>
            </a:pPr>
            <a:r>
              <a:t>样例：debug_output/test08 / tile_37_13_4992_14208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099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300" b="1">
                <a:solidFill>
                  <a:srgbClr val="111827"/>
                </a:solidFill>
                <a:latin typeface="Microsoft YaHei"/>
              </a:defRPr>
            </a:pPr>
            <a:r>
              <a:t>这张结果图怎么看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50" b="0">
                <a:solidFill>
                  <a:srgbClr val="5B6574"/>
                </a:solidFill>
                <a:latin typeface="Microsoft YaHei"/>
              </a:defRPr>
            </a:pPr>
            <a:r>
              <a:t>先把图中的元素解释清楚，后面每一步都围绕这些元素展开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14984"/>
            <a:ext cx="11201400" cy="18288"/>
          </a:xfrm>
          <a:prstGeom prst="rect">
            <a:avLst/>
          </a:prstGeom>
          <a:solidFill>
            <a:srgbClr val="DD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669280" cy="49743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_region_geojson_overl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267" y="1399032"/>
            <a:ext cx="3874345" cy="45994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" y="6071616"/>
            <a:ext cx="552297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最终 overlay 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353312"/>
            <a:ext cx="4160520" cy="960120"/>
          </a:xfrm>
          <a:prstGeom prst="roundRect">
            <a:avLst/>
          </a:prstGeom>
          <a:solidFill>
            <a:srgbClr val="FCECE8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0840" y="1353312"/>
            <a:ext cx="64008" cy="960120"/>
          </a:xfrm>
          <a:prstGeom prst="rect">
            <a:avLst/>
          </a:prstGeom>
          <a:solidFill>
            <a:srgbClr val="A03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490472"/>
            <a:ext cx="38404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A0362D"/>
                </a:solidFill>
                <a:latin typeface="Microsoft YaHei"/>
              </a:defRPr>
            </a:pPr>
            <a:r>
              <a:t>红色半透明区域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828800"/>
            <a:ext cx="3840480" cy="3931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最终导出的微血管实例。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红色边界是实例轮廓，内部是实例覆盖范围。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2542032"/>
            <a:ext cx="4160520" cy="960120"/>
          </a:xfrm>
          <a:prstGeom prst="roundRect">
            <a:avLst/>
          </a:prstGeom>
          <a:solidFill>
            <a:srgbClr val="E7F0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20840" y="2542032"/>
            <a:ext cx="64008" cy="960120"/>
          </a:xfrm>
          <a:prstGeom prst="rect">
            <a:avLst/>
          </a:prstGeom>
          <a:solidFill>
            <a:srgbClr val="28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2679192"/>
            <a:ext cx="38404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863AF"/>
                </a:solidFill>
                <a:latin typeface="Microsoft YaHei"/>
              </a:defRPr>
            </a:pPr>
            <a:r>
              <a:t>蓝/黄色网格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017520"/>
            <a:ext cx="3840480" cy="3931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每个格子对应一个 tile 的位置。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用来检查 tile 边界附近是否断裂或重复。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3730752"/>
            <a:ext cx="4160520" cy="960120"/>
          </a:xfrm>
          <a:prstGeom prst="roundRect">
            <a:avLst/>
          </a:prstGeom>
          <a:solidFill>
            <a:srgbClr val="E5F6EE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20840" y="3730752"/>
            <a:ext cx="64008" cy="960120"/>
          </a:xfrm>
          <a:prstGeom prst="rect">
            <a:avLst/>
          </a:prstGeom>
          <a:solidFill>
            <a:srgbClr val="2A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3867912"/>
            <a:ext cx="38404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A875C"/>
                </a:solidFill>
                <a:latin typeface="Microsoft YaHei"/>
              </a:defRPr>
            </a:pPr>
            <a:r>
              <a:t>中间框线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06240"/>
            <a:ext cx="3840480" cy="3931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表示本次 debug region / ROI 的核心区域。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neighbor tile 只提供边界上下文，不一定全部作为最终统计区域。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4919472"/>
            <a:ext cx="4160520" cy="960120"/>
          </a:xfrm>
          <a:prstGeom prst="roundRect">
            <a:avLst/>
          </a:prstGeom>
          <a:solidFill>
            <a:srgbClr val="FFF4E2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20840" y="4919472"/>
            <a:ext cx="64008" cy="960120"/>
          </a:xfrm>
          <a:prstGeom prst="rect">
            <a:avLst/>
          </a:prstGeom>
          <a:solidFill>
            <a:srgbClr val="B27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5056632"/>
            <a:ext cx="38404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B27422"/>
                </a:solidFill>
                <a:latin typeface="Microsoft YaHei"/>
              </a:defRPr>
            </a:pPr>
            <a:r>
              <a:t>当前需要继续优化的地方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5394960"/>
            <a:ext cx="3840480" cy="3931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有些小碎片也被保留下来。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下一步需要用面积、形态和置信度规则进一步过滤。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40" b="0">
                <a:solidFill>
                  <a:srgbClr val="5B6574"/>
                </a:solidFill>
                <a:latin typeface="Microsoft YaHei"/>
              </a:defRPr>
            </a:pPr>
            <a:r>
              <a:t>样例：debug_output/test08 / tile_37_13_4992_14208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099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300" b="1">
                <a:solidFill>
                  <a:srgbClr val="111827"/>
                </a:solidFill>
                <a:latin typeface="Microsoft YaHei"/>
              </a:defRPr>
            </a:pPr>
            <a:r>
              <a:t>整体流程：每一步都有明确输入和输出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50" b="0">
                <a:solidFill>
                  <a:srgbClr val="5B6574"/>
                </a:solidFill>
                <a:latin typeface="Microsoft YaHei"/>
              </a:defRPr>
            </a:pPr>
            <a:r>
              <a:t>后面用同一个 tile 逐步展开，避免只讲抽象流程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14984"/>
            <a:ext cx="11201400" cy="18288"/>
          </a:xfrm>
          <a:prstGeom prst="rect">
            <a:avLst/>
          </a:prstGeom>
          <a:solidFill>
            <a:srgbClr val="DD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" y="1417320"/>
            <a:ext cx="1572768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86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527048"/>
            <a:ext cx="138988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60" b="1">
                <a:solidFill>
                  <a:srgbClr val="2863AF"/>
                </a:solidFill>
                <a:latin typeface="Microsoft YaHei"/>
              </a:defRPr>
            </a:pPr>
            <a:r>
              <a:t>1 选 tile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19656"/>
            <a:ext cx="131673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10" b="0">
                <a:solidFill>
                  <a:srgbClr val="1F2937"/>
                </a:solidFill>
                <a:latin typeface="Microsoft YaHei"/>
              </a:defRPr>
            </a:pPr>
            <a:r>
              <a:t>入：WSI + ROI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131673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10" b="0">
                <a:solidFill>
                  <a:srgbClr val="1F2937"/>
                </a:solidFill>
                <a:latin typeface="Microsoft YaHei"/>
              </a:defRPr>
            </a:pPr>
            <a:r>
              <a:t>出：待处理 tile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12848" y="1847088"/>
            <a:ext cx="228600" cy="182880"/>
          </a:xfrm>
          <a:prstGeom prst="rightArrow">
            <a:avLst/>
          </a:prstGeom>
          <a:solidFill>
            <a:srgbClr val="5B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05456" y="1417320"/>
            <a:ext cx="1572768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A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96896" y="1527048"/>
            <a:ext cx="138988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60" b="1">
                <a:solidFill>
                  <a:srgbClr val="2A875C"/>
                </a:solidFill>
                <a:latin typeface="Microsoft YaHei"/>
              </a:defRPr>
            </a:pPr>
            <a:r>
              <a:t>2 DeepLIIF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472" y="1819656"/>
            <a:ext cx="131673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10" b="0">
                <a:solidFill>
                  <a:srgbClr val="1F2937"/>
                </a:solidFill>
                <a:latin typeface="Microsoft YaHei"/>
              </a:defRPr>
            </a:pPr>
            <a:r>
              <a:t>入：原始 tile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2103120"/>
            <a:ext cx="131673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10" b="0">
                <a:solidFill>
                  <a:srgbClr val="1F2937"/>
                </a:solidFill>
                <a:latin typeface="Microsoft YaHei"/>
              </a:defRPr>
            </a:pPr>
            <a:r>
              <a:t>出：Seg/Marker/DAPI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114800" y="1847088"/>
            <a:ext cx="228600" cy="182880"/>
          </a:xfrm>
          <a:prstGeom prst="rightArrow">
            <a:avLst/>
          </a:prstGeom>
          <a:solidFill>
            <a:srgbClr val="5B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07408" y="1417320"/>
            <a:ext cx="1572768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2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1527048"/>
            <a:ext cx="138988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60" b="1">
                <a:solidFill>
                  <a:srgbClr val="B27422"/>
                </a:solidFill>
                <a:latin typeface="Microsoft YaHei"/>
              </a:defRPr>
            </a:pPr>
            <a:r>
              <a:t>3 构建 prompt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1819656"/>
            <a:ext cx="131673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10" b="0">
                <a:solidFill>
                  <a:srgbClr val="1F2937"/>
                </a:solidFill>
                <a:latin typeface="Microsoft YaHei"/>
              </a:defRPr>
            </a:pPr>
            <a:r>
              <a:t>入：中间通道 + 原图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5424" y="2103120"/>
            <a:ext cx="131673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10" b="0">
                <a:solidFill>
                  <a:srgbClr val="1F2937"/>
                </a:solidFill>
                <a:latin typeface="Microsoft YaHei"/>
              </a:defRPr>
            </a:pPr>
            <a:r>
              <a:t>出：mask_input + points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016752" y="1847088"/>
            <a:ext cx="228600" cy="182880"/>
          </a:xfrm>
          <a:prstGeom prst="rightArrow">
            <a:avLst/>
          </a:prstGeom>
          <a:solidFill>
            <a:srgbClr val="5B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60" y="1417320"/>
            <a:ext cx="1572768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03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527048"/>
            <a:ext cx="138988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60" b="1">
                <a:solidFill>
                  <a:srgbClr val="A0362D"/>
                </a:solidFill>
                <a:latin typeface="Microsoft YaHei"/>
              </a:defRPr>
            </a:pPr>
            <a:r>
              <a:t>4 SAM2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1819656"/>
            <a:ext cx="131673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10" b="0">
                <a:solidFill>
                  <a:srgbClr val="1F2937"/>
                </a:solidFill>
                <a:latin typeface="Microsoft YaHei"/>
              </a:defRPr>
            </a:pPr>
            <a:r>
              <a:t>入：prompt + 原图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2103120"/>
            <a:ext cx="131673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10" b="0">
                <a:solidFill>
                  <a:srgbClr val="1F2937"/>
                </a:solidFill>
                <a:latin typeface="Microsoft YaHei"/>
              </a:defRPr>
            </a:pPr>
            <a:r>
              <a:t>出：raw mask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918704" y="1847088"/>
            <a:ext cx="228600" cy="182880"/>
          </a:xfrm>
          <a:prstGeom prst="rightArrow">
            <a:avLst/>
          </a:prstGeom>
          <a:solidFill>
            <a:srgbClr val="5B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11312" y="1417320"/>
            <a:ext cx="1572768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A5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1527048"/>
            <a:ext cx="138988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60" b="1">
                <a:solidFill>
                  <a:srgbClr val="6A51A5"/>
                </a:solidFill>
                <a:latin typeface="Microsoft YaHei"/>
              </a:defRPr>
            </a:pPr>
            <a:r>
              <a:t>5 后处理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1819656"/>
            <a:ext cx="131673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10" b="0">
                <a:solidFill>
                  <a:srgbClr val="1F2937"/>
                </a:solidFill>
                <a:latin typeface="Microsoft YaHei"/>
              </a:defRPr>
            </a:pPr>
            <a:r>
              <a:t>入：raw mask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2103120"/>
            <a:ext cx="131673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10" b="0">
                <a:solidFill>
                  <a:srgbClr val="1F2937"/>
                </a:solidFill>
                <a:latin typeface="Microsoft YaHei"/>
              </a:defRPr>
            </a:pPr>
            <a:r>
              <a:t>出：tile 实例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820656" y="1847088"/>
            <a:ext cx="228600" cy="182880"/>
          </a:xfrm>
          <a:prstGeom prst="rightArrow">
            <a:avLst/>
          </a:prstGeom>
          <a:solidFill>
            <a:srgbClr val="5B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113264" y="1417320"/>
            <a:ext cx="1572768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04704" y="1527048"/>
            <a:ext cx="138988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60" b="1">
                <a:solidFill>
                  <a:srgbClr val="111827"/>
                </a:solidFill>
                <a:latin typeface="Microsoft YaHei"/>
              </a:defRPr>
            </a:pPr>
            <a:r>
              <a:t>6 拼接导出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1819656"/>
            <a:ext cx="131673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10" b="0">
                <a:solidFill>
                  <a:srgbClr val="1F2937"/>
                </a:solidFill>
                <a:latin typeface="Microsoft YaHei"/>
              </a:defRPr>
            </a:pPr>
            <a:r>
              <a:t>入：所有 tile 实例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2103120"/>
            <a:ext cx="131673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10" b="0">
                <a:solidFill>
                  <a:srgbClr val="1F2937"/>
                </a:solidFill>
                <a:latin typeface="Microsoft YaHei"/>
              </a:defRPr>
            </a:pPr>
            <a:r>
              <a:t>出：GeoJSON + 统计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2971800"/>
            <a:ext cx="2560320" cy="29169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01_region_original_mosa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595" y="3044952"/>
            <a:ext cx="2141288" cy="254203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13232" y="5660136"/>
            <a:ext cx="241401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输入：ROI tiles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20440" y="2971800"/>
            <a:ext cx="2560320" cy="29169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08_stitched_deepliif_se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1170" y="3044952"/>
            <a:ext cx="2118858" cy="254203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593592" y="5660136"/>
            <a:ext cx="241401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中间：DeepLIIF Seg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2971800"/>
            <a:ext cx="2011680" cy="29169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step3_22_weighted_mask_input_25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3383280"/>
            <a:ext cx="1865376" cy="186537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473952" y="5660136"/>
            <a:ext cx="186537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中间：SAM2 prompt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32520" y="2971800"/>
            <a:ext cx="2560320" cy="29169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05_region_geojson_overla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2035" y="3044952"/>
            <a:ext cx="2141288" cy="254203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805672" y="5660136"/>
            <a:ext cx="241401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输出：GeoJSON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40" b="0">
                <a:solidFill>
                  <a:srgbClr val="5B6574"/>
                </a:solidFill>
                <a:latin typeface="Microsoft YaHei"/>
              </a:defRPr>
            </a:pPr>
            <a:r>
              <a:t>样例：debug_output/test08 / tile_37_13_4992_14208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099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300" b="1">
                <a:solidFill>
                  <a:srgbClr val="111827"/>
                </a:solidFill>
                <a:latin typeface="Microsoft YaHei"/>
              </a:defRPr>
            </a:pPr>
            <a:r>
              <a:t>后续用这个具体 tile 讲完整过程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50" b="0">
                <a:solidFill>
                  <a:srgbClr val="5B6574"/>
                </a:solidFill>
                <a:latin typeface="Microsoft YaHei"/>
              </a:defRPr>
            </a:pPr>
            <a:r>
              <a:t>选择 tile_37_13_4992_14208，因为它完整保存了 step1 到 step7 的调试图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14984"/>
            <a:ext cx="11201400" cy="18288"/>
          </a:xfrm>
          <a:prstGeom prst="rect">
            <a:avLst/>
          </a:prstGeom>
          <a:solidFill>
            <a:srgbClr val="DD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4251960" cy="45628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tep1_origi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531620"/>
            <a:ext cx="4105656" cy="4105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6112" y="5751576"/>
            <a:ext cx="410565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样例 tile 原图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508760"/>
            <a:ext cx="512064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77840" y="1508760"/>
            <a:ext cx="64008" cy="1097280"/>
          </a:xfrm>
          <a:prstGeom prst="rect">
            <a:avLst/>
          </a:prstGeom>
          <a:solidFill>
            <a:srgbClr val="28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645920"/>
            <a:ext cx="48006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863AF"/>
                </a:solidFill>
                <a:latin typeface="Microsoft YaHei"/>
              </a:defRPr>
            </a:pPr>
            <a:r>
              <a:t>为什么用单个 tile 展开讲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984248"/>
            <a:ext cx="4800600" cy="5303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导师可以看到一张原图如何逐步变成 prompt、SAM2 mask 和最终实例。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避免只看最终 ROI 图时，不知道每个中间环节做了什么。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2852928"/>
            <a:ext cx="512064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2852928"/>
            <a:ext cx="64008" cy="1097280"/>
          </a:xfrm>
          <a:prstGeom prst="rect">
            <a:avLst/>
          </a:prstGeom>
          <a:solidFill>
            <a:srgbClr val="2A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2990088"/>
            <a:ext cx="48006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A875C"/>
                </a:solidFill>
                <a:latin typeface="Microsoft YaHei"/>
              </a:defRPr>
            </a:pPr>
            <a:r>
              <a:t>这个 tile 的关键数字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328416"/>
            <a:ext cx="4800600" cy="5303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Marker 自动阈值：25。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SAM2 positive points：29 个。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SAM2 最佳候选分数：0.9497。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后处理后 tile 内实例：56 个。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4343400"/>
            <a:ext cx="51206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42432" y="4462272"/>
            <a:ext cx="48006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40" b="1">
                <a:solidFill>
                  <a:srgbClr val="A0362D"/>
                </a:solidFill>
                <a:latin typeface="Microsoft YaHei"/>
              </a:defRPr>
            </a:pPr>
            <a:r>
              <a:t>讲解主线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2" y="4773168"/>
            <a:ext cx="48006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原始 tile -&gt; DeepLIIF 三个中间通道 -&gt; weighted prompt -&gt; SAM2 候选 mask -&gt; 连通域实例 -&gt; 全区域拼接。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40" b="0">
                <a:solidFill>
                  <a:srgbClr val="5B6574"/>
                </a:solidFill>
                <a:latin typeface="Microsoft YaHei"/>
              </a:defRPr>
            </a:pPr>
            <a:r>
              <a:t>样例：debug_output/test08 / tile_37_13_4992_14208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099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300" b="1">
                <a:solidFill>
                  <a:srgbClr val="111827"/>
                </a:solidFill>
                <a:latin typeface="Microsoft YaHei"/>
              </a:defRPr>
            </a:pPr>
            <a:r>
              <a:t>Step 1：输入是一张 512x512 的原始 CD34 IHC tile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50" b="0">
                <a:solidFill>
                  <a:srgbClr val="5B6574"/>
                </a:solidFill>
                <a:latin typeface="Microsoft YaHei"/>
              </a:defRPr>
            </a:pPr>
            <a:r>
              <a:t>这一步的任务不是识别血管，而是把 WSI 中目标位置的图块取出来，作为后续模型的共同输入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14984"/>
            <a:ext cx="11201400" cy="18288"/>
          </a:xfrm>
          <a:prstGeom prst="rect">
            <a:avLst/>
          </a:prstGeom>
          <a:solidFill>
            <a:srgbClr val="DD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" y="1133856"/>
            <a:ext cx="3154680" cy="804672"/>
          </a:xfrm>
          <a:prstGeom prst="roundRect">
            <a:avLst/>
          </a:prstGeom>
          <a:solidFill>
            <a:srgbClr val="E7F0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252728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2863AF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1243584"/>
            <a:ext cx="21945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WSI 中某个 ROI 位置；包含 row/col 和全局坐标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94760" y="1389888"/>
            <a:ext cx="164592" cy="219456"/>
          </a:xfrm>
          <a:prstGeom prst="rightArrow">
            <a:avLst/>
          </a:prstGeom>
          <a:solidFill>
            <a:srgbClr val="5B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86784" y="1133856"/>
            <a:ext cx="4224528" cy="804672"/>
          </a:xfrm>
          <a:prstGeom prst="roundRect">
            <a:avLst/>
          </a:prstGeom>
          <a:solidFill>
            <a:srgbClr val="FFF4E2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23944" y="1252728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B27422"/>
                </a:solidFill>
                <a:latin typeface="Microsoft YaHei"/>
              </a:defRPr>
            </a:pPr>
            <a:r>
              <a:t>处理逻辑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9744" y="1243584"/>
            <a:ext cx="3264408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按 tile_size 和 overlap 从 WSI 读取图块；保留坐标信息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247888" y="1389888"/>
            <a:ext cx="164592" cy="219456"/>
          </a:xfrm>
          <a:prstGeom prst="rightArrow">
            <a:avLst/>
          </a:prstGeom>
          <a:solidFill>
            <a:srgbClr val="5B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39912" y="1133856"/>
            <a:ext cx="3154680" cy="804672"/>
          </a:xfrm>
          <a:prstGeom prst="roundRect">
            <a:avLst/>
          </a:prstGeom>
          <a:solidFill>
            <a:srgbClr val="E5F6EE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1252728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2A875C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2872" y="1243584"/>
            <a:ext cx="21945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RGB tile 图像；后续 DeepLIIF 和 SAM2 都使用它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240280"/>
            <a:ext cx="3977639" cy="39684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tep1_origi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3" y="2313432"/>
            <a:ext cx="3593592" cy="35935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6112" y="5980176"/>
            <a:ext cx="3831335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原始 CD34 IHC tile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57800" y="2331720"/>
            <a:ext cx="27889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57800" y="2331720"/>
            <a:ext cx="64008" cy="1234440"/>
          </a:xfrm>
          <a:prstGeom prst="rect">
            <a:avLst/>
          </a:prstGeom>
          <a:solidFill>
            <a:srgbClr val="28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0680" y="2468880"/>
            <a:ext cx="24688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863AF"/>
                </a:solidFill>
                <a:latin typeface="Microsoft YaHei"/>
              </a:defRPr>
            </a:pPr>
            <a:r>
              <a:t>功能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2807208"/>
            <a:ext cx="2468880" cy="6675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提供真实染色图像。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作为 DeepLIIF 的输入。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作为 SAM2 后续精细分割的原图背景。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2331720"/>
            <a:ext cx="27889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2331720"/>
            <a:ext cx="64008" cy="1234440"/>
          </a:xfrm>
          <a:prstGeom prst="rect">
            <a:avLst/>
          </a:prstGeom>
          <a:solidFill>
            <a:srgbClr val="2A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2468880"/>
            <a:ext cx="24688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A875C"/>
                </a:solidFill>
                <a:latin typeface="Microsoft YaHei"/>
              </a:defRPr>
            </a:pPr>
            <a:r>
              <a:t>为什么保留坐标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2807208"/>
            <a:ext cx="2468880" cy="6675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单 tile 分割只得到局部坐标。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最终需要回到 WSI 全局坐标导出 GeoJSON。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跨 tile 拼接也依赖 row/col 信息。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57800" y="4069080"/>
            <a:ext cx="58064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22392" y="4187952"/>
            <a:ext cx="54864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40" b="1">
                <a:solidFill>
                  <a:srgbClr val="A0362D"/>
                </a:solidFill>
                <a:latin typeface="Microsoft YaHei"/>
              </a:defRPr>
            </a:pPr>
            <a:r>
              <a:t>这一页要传达的信息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22392" y="4498848"/>
            <a:ext cx="548640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pipeline 不是直接在整张 WSI 上做一次分割，而是先把 ROI 切成有重叠的 tile。每个 tile 独立推理，最后再拼回全局结果。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40" b="0">
                <a:solidFill>
                  <a:srgbClr val="5B6574"/>
                </a:solidFill>
                <a:latin typeface="Microsoft YaHei"/>
              </a:defRPr>
            </a:pPr>
            <a:r>
              <a:t>样例：debug_output/test08 / tile_37_13_4992_14208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099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300" b="1">
                <a:solidFill>
                  <a:srgbClr val="111827"/>
                </a:solidFill>
                <a:latin typeface="Microsoft YaHei"/>
              </a:defRPr>
            </a:pPr>
            <a:r>
              <a:t>Step 2：DeepLIIF 把原图转换成三个可用线索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50" b="0">
                <a:solidFill>
                  <a:srgbClr val="5B6574"/>
                </a:solidFill>
                <a:latin typeface="Microsoft YaHei"/>
              </a:defRPr>
            </a:pPr>
            <a:r>
              <a:t>DeepLIIF 不直接输出最终微血管实例，它输出的是后续构建 SAM2 prompt 的中间证据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14984"/>
            <a:ext cx="11201400" cy="18288"/>
          </a:xfrm>
          <a:prstGeom prst="rect">
            <a:avLst/>
          </a:prstGeom>
          <a:solidFill>
            <a:srgbClr val="DD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" y="1078992"/>
            <a:ext cx="3154680" cy="804672"/>
          </a:xfrm>
          <a:prstGeom prst="roundRect">
            <a:avLst/>
          </a:prstGeom>
          <a:solidFill>
            <a:srgbClr val="E7F0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197864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2863AF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1188720"/>
            <a:ext cx="21945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原始 tile 图像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94760" y="1335024"/>
            <a:ext cx="164592" cy="219456"/>
          </a:xfrm>
          <a:prstGeom prst="rightArrow">
            <a:avLst/>
          </a:prstGeom>
          <a:solidFill>
            <a:srgbClr val="5B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86784" y="1078992"/>
            <a:ext cx="4224528" cy="804672"/>
          </a:xfrm>
          <a:prstGeom prst="roundRect">
            <a:avLst/>
          </a:prstGeom>
          <a:solidFill>
            <a:srgbClr val="FFF4E2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23944" y="1197864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B27422"/>
                </a:solidFill>
                <a:latin typeface="Microsoft YaHei"/>
              </a:defRPr>
            </a:pPr>
            <a:r>
              <a:t>处理逻辑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9744" y="1188720"/>
            <a:ext cx="3264408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用 DeepLIIF 生成结构、染色和核/腔隙相关通道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247888" y="1335024"/>
            <a:ext cx="164592" cy="219456"/>
          </a:xfrm>
          <a:prstGeom prst="rightArrow">
            <a:avLst/>
          </a:prstGeom>
          <a:solidFill>
            <a:srgbClr val="5B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39912" y="1078992"/>
            <a:ext cx="3154680" cy="804672"/>
          </a:xfrm>
          <a:prstGeom prst="roundRect">
            <a:avLst/>
          </a:prstGeom>
          <a:solidFill>
            <a:srgbClr val="E5F6EE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1197864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2A875C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2872" y="1188720"/>
            <a:ext cx="21945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Seg、Marker、DAPI 三张中间图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057400"/>
            <a:ext cx="2286000" cy="2734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tep1_origi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240280"/>
            <a:ext cx="2139696" cy="213969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7512" y="4562856"/>
            <a:ext cx="213969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输入：原图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54680" y="2057400"/>
            <a:ext cx="2286000" cy="2734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tep2_01_deepliif_Se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832" y="2240280"/>
            <a:ext cx="2139696" cy="21396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227832" y="4562856"/>
            <a:ext cx="213969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输出 1：Seg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2057400"/>
            <a:ext cx="2286000" cy="2734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tep2_02_deepliif_Mark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152" y="2240280"/>
            <a:ext cx="2139696" cy="21396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788152" y="4562856"/>
            <a:ext cx="213969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输出 2：Marker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2057400"/>
            <a:ext cx="2286000" cy="2734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tep2_03_deepliif_DAP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2240280"/>
            <a:ext cx="2139696" cy="213969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348472" y="4562856"/>
            <a:ext cx="213969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输出 3：DAPI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074920"/>
            <a:ext cx="324612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5074920"/>
            <a:ext cx="64008" cy="868680"/>
          </a:xfrm>
          <a:prstGeom prst="rect">
            <a:avLst/>
          </a:prstGeom>
          <a:solidFill>
            <a:srgbClr val="E7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21208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E7F0FF"/>
                </a:solidFill>
                <a:latin typeface="Microsoft YaHei"/>
              </a:defRPr>
            </a:pPr>
            <a:r>
              <a:t>Seg 的作用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550408"/>
            <a:ext cx="2926080" cy="3017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提供组织结构和边界方向。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帮助判断哪些区域更像血管壁结构。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51960" y="5074920"/>
            <a:ext cx="324612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51960" y="5074920"/>
            <a:ext cx="64008" cy="868680"/>
          </a:xfrm>
          <a:prstGeom prst="rect">
            <a:avLst/>
          </a:prstGeom>
          <a:solidFill>
            <a:srgbClr val="A03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521208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A0362D"/>
                </a:solidFill>
                <a:latin typeface="Microsoft YaHei"/>
              </a:defRPr>
            </a:pPr>
            <a:r>
              <a:t>Marker 的作用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5550408"/>
            <a:ext cx="2926080" cy="3017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提供 CD34 阳性染色强度。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强阳性区域更应该成为 SAM2 的正提示。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26679" y="5074920"/>
            <a:ext cx="324612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26679" y="5074920"/>
            <a:ext cx="64008" cy="868680"/>
          </a:xfrm>
          <a:prstGeom prst="rect">
            <a:avLst/>
          </a:prstGeom>
          <a:solidFill>
            <a:srgbClr val="2A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09559" y="521208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A875C"/>
                </a:solidFill>
                <a:latin typeface="Microsoft YaHei"/>
              </a:defRPr>
            </a:pPr>
            <a:r>
              <a:t>DAPI 的作用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59" y="5550408"/>
            <a:ext cx="2926080" cy="3017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辅助识别无核的管腔区域。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避免管腔内部被错误当成背景断开。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40" b="0">
                <a:solidFill>
                  <a:srgbClr val="5B6574"/>
                </a:solidFill>
                <a:latin typeface="Microsoft YaHei"/>
              </a:defRPr>
            </a:pPr>
            <a:r>
              <a:t>样例：debug_output/test08 / tile_37_13_4992_14208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099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300" b="1">
                <a:solidFill>
                  <a:srgbClr val="111827"/>
                </a:solidFill>
                <a:latin typeface="Microsoft YaHei"/>
              </a:defRPr>
            </a:pPr>
            <a:r>
              <a:t>Step 3：Seg 通道提供“结构是否像血管”的线索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50" b="0">
                <a:solidFill>
                  <a:srgbClr val="5B6574"/>
                </a:solidFill>
                <a:latin typeface="Microsoft YaHei"/>
              </a:defRPr>
            </a:pPr>
            <a:r>
              <a:t>核心思想：不是简单二值化，而是按颜色关系和强度给每个像素一个支持程度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14984"/>
            <a:ext cx="11201400" cy="18288"/>
          </a:xfrm>
          <a:prstGeom prst="rect">
            <a:avLst/>
          </a:prstGeom>
          <a:solidFill>
            <a:srgbClr val="DD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" y="1060704"/>
            <a:ext cx="3154680" cy="804672"/>
          </a:xfrm>
          <a:prstGeom prst="roundRect">
            <a:avLst/>
          </a:prstGeom>
          <a:solidFill>
            <a:srgbClr val="E7F0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179576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2863AF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1170432"/>
            <a:ext cx="21945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DeepLIIF Seg RGB 图像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94760" y="1316736"/>
            <a:ext cx="164592" cy="219456"/>
          </a:xfrm>
          <a:prstGeom prst="rightArrow">
            <a:avLst/>
          </a:prstGeom>
          <a:solidFill>
            <a:srgbClr val="5B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86784" y="1060704"/>
            <a:ext cx="4224528" cy="804672"/>
          </a:xfrm>
          <a:prstGeom prst="roundRect">
            <a:avLst/>
          </a:prstGeom>
          <a:solidFill>
            <a:srgbClr val="FFF4E2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23944" y="1179576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B27422"/>
                </a:solidFill>
                <a:latin typeface="Microsoft YaHei"/>
              </a:defRPr>
            </a:pPr>
            <a:r>
              <a:t>处理逻辑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9744" y="1170432"/>
            <a:ext cx="3264408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根据 R/B/G 关系判断阳性方向、阴性方向和强弱等级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247888" y="1316736"/>
            <a:ext cx="164592" cy="219456"/>
          </a:xfrm>
          <a:prstGeom prst="rightArrow">
            <a:avLst/>
          </a:prstGeom>
          <a:solidFill>
            <a:srgbClr val="5B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39912" y="1060704"/>
            <a:ext cx="3154680" cy="804672"/>
          </a:xfrm>
          <a:prstGeom prst="roundRect">
            <a:avLst/>
          </a:prstGeom>
          <a:solidFill>
            <a:srgbClr val="E5F6EE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1179576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2A875C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2872" y="1170432"/>
            <a:ext cx="21945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seg_logits：每个像素得到 -5 到 5 的支持分数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057400"/>
            <a:ext cx="2743200" cy="30540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tep2_01_deepliif_Se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171700"/>
            <a:ext cx="2596896" cy="259689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58952" y="4882896"/>
            <a:ext cx="259689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Seg 图像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9039" y="2057400"/>
            <a:ext cx="3657600" cy="23225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tep2_03_seg_positive_r_intensity_curv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934" y="2130552"/>
            <a:ext cx="3505809" cy="194767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22191" y="4151376"/>
            <a:ext cx="351129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Seg 红色强度分布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205740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26679" y="2057400"/>
            <a:ext cx="64008" cy="1417320"/>
          </a:xfrm>
          <a:prstGeom prst="rect">
            <a:avLst/>
          </a:prstGeom>
          <a:solidFill>
            <a:srgbClr val="28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59" y="2194560"/>
            <a:ext cx="31089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863AF"/>
                </a:solidFill>
                <a:latin typeface="Microsoft YaHei"/>
              </a:defRPr>
            </a:pPr>
            <a:r>
              <a:t>判断逻辑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59" y="2532888"/>
            <a:ext cx="3108960" cy="8503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红色成分强，说明更接近阳性结构。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蓝色成分更强，说明偏阴性或非目标。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绿色过高的区域容易是背景或不可靠区域。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26679" y="3749039"/>
            <a:ext cx="34290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26679" y="3749039"/>
            <a:ext cx="64008" cy="1143000"/>
          </a:xfrm>
          <a:prstGeom prst="rect">
            <a:avLst/>
          </a:prstGeom>
          <a:solidFill>
            <a:srgbClr val="2A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59" y="3886199"/>
            <a:ext cx="31089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A875C"/>
                </a:solidFill>
                <a:latin typeface="Microsoft YaHei"/>
              </a:defRPr>
            </a:pPr>
            <a:r>
              <a:t>输出含义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59" y="4224527"/>
            <a:ext cx="3108960" cy="5760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-5 表示强烈不支持。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0 表示不确定区域。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1 到 5 表示越来越强的阳性支持。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257800"/>
            <a:ext cx="1037844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" y="5376672"/>
            <a:ext cx="100584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40" b="1">
                <a:solidFill>
                  <a:srgbClr val="A0362D"/>
                </a:solidFill>
                <a:latin typeface="Microsoft YaHei"/>
              </a:defRPr>
            </a:pPr>
            <a:r>
              <a:t>为什么这样做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" y="5687568"/>
            <a:ext cx="10058400" cy="91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SAM2 需要一个形状先验。Seg 通道负责告诉 SAM2：哪些位置在结构上更可能属于血管壁，哪些位置应该被压低。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40" b="0">
                <a:solidFill>
                  <a:srgbClr val="5B6574"/>
                </a:solidFill>
                <a:latin typeface="Microsoft YaHei"/>
              </a:defRPr>
            </a:pPr>
            <a:r>
              <a:t>样例：debug_output/test08 / tile_37_13_4992_14208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099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300" b="1">
                <a:solidFill>
                  <a:srgbClr val="111827"/>
                </a:solidFill>
                <a:latin typeface="Microsoft YaHei"/>
              </a:defRPr>
            </a:pPr>
            <a:r>
              <a:t>Step 4：Marker 通道提供“CD34 阳性强度”的线索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50" b="0">
                <a:solidFill>
                  <a:srgbClr val="5B6574"/>
                </a:solidFill>
                <a:latin typeface="Microsoft YaHei"/>
              </a:defRPr>
            </a:pPr>
            <a:r>
              <a:t>核心思想：Marker 越强，越应该成为 SAM2 的正向提示；弱染色区域需要谨慎处理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14984"/>
            <a:ext cx="11201400" cy="18288"/>
          </a:xfrm>
          <a:prstGeom prst="rect">
            <a:avLst/>
          </a:prstGeom>
          <a:solidFill>
            <a:srgbClr val="DD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" y="1060704"/>
            <a:ext cx="3154680" cy="804672"/>
          </a:xfrm>
          <a:prstGeom prst="roundRect">
            <a:avLst/>
          </a:prstGeom>
          <a:solidFill>
            <a:srgbClr val="E7F0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179576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2863AF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1170432"/>
            <a:ext cx="21945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DeepLIIF Marker 图像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94760" y="1316736"/>
            <a:ext cx="164592" cy="219456"/>
          </a:xfrm>
          <a:prstGeom prst="rightArrow">
            <a:avLst/>
          </a:prstGeom>
          <a:solidFill>
            <a:srgbClr val="5B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86784" y="1060704"/>
            <a:ext cx="4224528" cy="804672"/>
          </a:xfrm>
          <a:prstGeom prst="roundRect">
            <a:avLst/>
          </a:prstGeom>
          <a:solidFill>
            <a:srgbClr val="FFF4E2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23944" y="1179576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B27422"/>
                </a:solidFill>
                <a:latin typeface="Microsoft YaHei"/>
              </a:defRPr>
            </a:pPr>
            <a:r>
              <a:t>处理逻辑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9744" y="1170432"/>
            <a:ext cx="3264408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自动估计染色阈值，并按强度映射为不同等级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247888" y="1316736"/>
            <a:ext cx="164592" cy="219456"/>
          </a:xfrm>
          <a:prstGeom prst="rightArrow">
            <a:avLst/>
          </a:prstGeom>
          <a:solidFill>
            <a:srgbClr val="5B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39912" y="1060704"/>
            <a:ext cx="3154680" cy="804672"/>
          </a:xfrm>
          <a:prstGeom prst="roundRect">
            <a:avLst/>
          </a:prstGeom>
          <a:solidFill>
            <a:srgbClr val="E5F6EE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1179576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2A875C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2872" y="1170432"/>
            <a:ext cx="21945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marker_logits：CD34 阳性强度支持图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057400"/>
            <a:ext cx="2743200" cy="30540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tep2_02_deepliif_Mark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171700"/>
            <a:ext cx="2596896" cy="259689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58952" y="4882896"/>
            <a:ext cx="259689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Marker 图像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9039" y="2057400"/>
            <a:ext cx="3657600" cy="23225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tep2_04_marker_nonzero_intensity_curv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934" y="2130552"/>
            <a:ext cx="3505809" cy="194767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22191" y="4151376"/>
            <a:ext cx="351129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Marker 非零强度分布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2057400"/>
            <a:ext cx="34290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26679" y="2057400"/>
            <a:ext cx="64008" cy="1325880"/>
          </a:xfrm>
          <a:prstGeom prst="rect">
            <a:avLst/>
          </a:prstGeom>
          <a:solidFill>
            <a:srgbClr val="A03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59" y="2194560"/>
            <a:ext cx="31089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A0362D"/>
                </a:solidFill>
                <a:latin typeface="Microsoft YaHei"/>
              </a:defRPr>
            </a:pPr>
            <a:r>
              <a:t>本 tile 的阈值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59" y="2532888"/>
            <a:ext cx="3108960" cy="7589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自动阈值：25。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阈值来源：two-stage Multi-Otsu。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Marker 阳性像素：25,149 px。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26679" y="3657600"/>
            <a:ext cx="34290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26679" y="3657600"/>
            <a:ext cx="64008" cy="1234440"/>
          </a:xfrm>
          <a:prstGeom prst="rect">
            <a:avLst/>
          </a:prstGeom>
          <a:solidFill>
            <a:srgbClr val="2A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59" y="3794760"/>
            <a:ext cx="31089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A875C"/>
                </a:solidFill>
                <a:latin typeface="Microsoft YaHei"/>
              </a:defRPr>
            </a:pPr>
            <a:r>
              <a:t>功能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59" y="4133088"/>
            <a:ext cx="3108960" cy="6675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补充 Seg 中不明显但染色阳性的区域。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让强 CD34 染色在后续 prompt 中占更高权重。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257800"/>
            <a:ext cx="1037844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" y="5376672"/>
            <a:ext cx="100584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40" b="1">
                <a:solidFill>
                  <a:srgbClr val="2863AF"/>
                </a:solidFill>
                <a:latin typeface="Microsoft YaHei"/>
              </a:defRPr>
            </a:pPr>
            <a:r>
              <a:t>为什么要自动阈值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" y="5687568"/>
            <a:ext cx="10058400" cy="91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不同 tile 的染色强度不完全一致，固定阈值容易过严或过松；自动阈值可以让每个 tile 根据自身强度分布调整。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40" b="0">
                <a:solidFill>
                  <a:srgbClr val="5B6574"/>
                </a:solidFill>
                <a:latin typeface="Microsoft YaHei"/>
              </a:defRPr>
            </a:pPr>
            <a:r>
              <a:t>样例：debug_output/test08 / tile_37_13_4992_14208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099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300" b="1">
                <a:solidFill>
                  <a:srgbClr val="111827"/>
                </a:solidFill>
                <a:latin typeface="Microsoft YaHei"/>
              </a:defRPr>
            </a:pPr>
            <a:r>
              <a:t>Step 5：Seg 和 Marker 融合成初始 weighted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50" b="0">
                <a:solidFill>
                  <a:srgbClr val="5B6574"/>
                </a:solidFill>
                <a:latin typeface="Microsoft YaHei"/>
              </a:defRPr>
            </a:pPr>
            <a:r>
              <a:t>核心思想：结构线索和染色线索互补，取二者中更强的支持作为初始提示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14984"/>
            <a:ext cx="11201400" cy="18288"/>
          </a:xfrm>
          <a:prstGeom prst="rect">
            <a:avLst/>
          </a:prstGeom>
          <a:solidFill>
            <a:srgbClr val="DD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" y="1060704"/>
            <a:ext cx="3154680" cy="804672"/>
          </a:xfrm>
          <a:prstGeom prst="roundRect">
            <a:avLst/>
          </a:prstGeom>
          <a:solidFill>
            <a:srgbClr val="E7F0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179576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2863AF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1170432"/>
            <a:ext cx="21945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seg_logits + marker_logits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94760" y="1316736"/>
            <a:ext cx="164592" cy="219456"/>
          </a:xfrm>
          <a:prstGeom prst="rightArrow">
            <a:avLst/>
          </a:prstGeom>
          <a:solidFill>
            <a:srgbClr val="5B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86784" y="1060704"/>
            <a:ext cx="4224528" cy="804672"/>
          </a:xfrm>
          <a:prstGeom prst="roundRect">
            <a:avLst/>
          </a:prstGeom>
          <a:solidFill>
            <a:srgbClr val="FFF4E2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23944" y="1179576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B27422"/>
                </a:solidFill>
                <a:latin typeface="Microsoft YaHei"/>
              </a:defRPr>
            </a:pPr>
            <a:r>
              <a:t>处理逻辑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9744" y="1170432"/>
            <a:ext cx="3264408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逐像素融合：如果任一通道强烈支持，就提高该位置的 prompt 权重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247888" y="1316736"/>
            <a:ext cx="164592" cy="219456"/>
          </a:xfrm>
          <a:prstGeom prst="rightArrow">
            <a:avLst/>
          </a:prstGeom>
          <a:solidFill>
            <a:srgbClr val="5B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39912" y="1060704"/>
            <a:ext cx="3154680" cy="804672"/>
          </a:xfrm>
          <a:prstGeom prst="roundRect">
            <a:avLst/>
          </a:prstGeom>
          <a:solidFill>
            <a:srgbClr val="E5F6EE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1179576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2A875C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2872" y="1170432"/>
            <a:ext cx="21945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pre-DAB 初始热图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011680"/>
            <a:ext cx="3063240" cy="30998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tep3_01_weighted_raw_heat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" y="2084832"/>
            <a:ext cx="2724912" cy="272491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4672" y="4882896"/>
            <a:ext cx="291693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融合后的初始热图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2011680"/>
            <a:ext cx="3063240" cy="30998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tep3_05_weighted_dab_filtered_heat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2084832"/>
            <a:ext cx="2724912" cy="272491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233672" y="4882896"/>
            <a:ext cx="291693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DAB 过滤后的热图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2057400"/>
            <a:ext cx="352044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35240" y="2057400"/>
            <a:ext cx="64008" cy="1280160"/>
          </a:xfrm>
          <a:prstGeom prst="rect">
            <a:avLst/>
          </a:prstGeom>
          <a:solidFill>
            <a:srgbClr val="B27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2194560"/>
            <a:ext cx="32004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B27422"/>
                </a:solidFill>
                <a:latin typeface="Microsoft YaHei"/>
              </a:defRPr>
            </a:pPr>
            <a:r>
              <a:t>这一步的功能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2532888"/>
            <a:ext cx="3200400" cy="7132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把两个 DeepLIIF 通道变成统一的 prompt 空间。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弱支持、不确定、强支持都保留下来，而不是直接二值化。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给下一步 DAB 过滤提供基础。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611880"/>
            <a:ext cx="352044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35240" y="3611880"/>
            <a:ext cx="64008" cy="1143000"/>
          </a:xfrm>
          <a:prstGeom prst="rect">
            <a:avLst/>
          </a:prstGeom>
          <a:solidFill>
            <a:srgbClr val="28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3749040"/>
            <a:ext cx="32004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863AF"/>
                </a:solidFill>
                <a:latin typeface="Microsoft YaHei"/>
              </a:defRPr>
            </a:pPr>
            <a:r>
              <a:t>输出特点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4087368"/>
            <a:ext cx="3200400" cy="5760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不是最终 mask。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是给 SAM2 使用的形状先验草稿。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还需要用原图真实 DAB 强度继续清洗。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303520"/>
            <a:ext cx="1033272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" y="5422392"/>
            <a:ext cx="10012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40" b="1">
                <a:solidFill>
                  <a:srgbClr val="A0362D"/>
                </a:solidFill>
                <a:latin typeface="Microsoft YaHei"/>
              </a:defRPr>
            </a:pPr>
            <a:r>
              <a:t>重点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" y="5733288"/>
            <a:ext cx="10012680" cy="274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这个项目的关键不是让 DeepLIIF 直接分割血管，而是用 DeepLIIF 生成 SAM2 更容易理解的 weighted prompt。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40" b="0">
                <a:solidFill>
                  <a:srgbClr val="5B6574"/>
                </a:solidFill>
                <a:latin typeface="Microsoft YaHei"/>
              </a:defRPr>
            </a:pPr>
            <a:r>
              <a:t>样例：debug_output/test08 / tile_37_13_4992_14208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099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300" b="1">
                <a:solidFill>
                  <a:srgbClr val="111827"/>
                </a:solidFill>
                <a:latin typeface="Microsoft YaHei"/>
              </a:defRPr>
            </a:pPr>
            <a:r>
              <a:t>Step 6：用原图 DAB 强度过滤低可信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50" b="0">
                <a:solidFill>
                  <a:srgbClr val="5B6574"/>
                </a:solidFill>
                <a:latin typeface="Microsoft YaHei"/>
              </a:defRPr>
            </a:pPr>
            <a:r>
              <a:t>核心思想：真正的 CD34 阳性应当在原始染色图中有 DAB 支持，低 DAB 的 prompt 更可能是噪声或伪影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14984"/>
            <a:ext cx="11201400" cy="18288"/>
          </a:xfrm>
          <a:prstGeom prst="rect">
            <a:avLst/>
          </a:prstGeom>
          <a:solidFill>
            <a:srgbClr val="DD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" y="1060704"/>
            <a:ext cx="3154680" cy="804672"/>
          </a:xfrm>
          <a:prstGeom prst="roundRect">
            <a:avLst/>
          </a:prstGeom>
          <a:solidFill>
            <a:srgbClr val="E7F0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179576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2863AF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1170432"/>
            <a:ext cx="21945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初始 prompt + 原始 RGB tile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94760" y="1316736"/>
            <a:ext cx="164592" cy="219456"/>
          </a:xfrm>
          <a:prstGeom prst="rightArrow">
            <a:avLst/>
          </a:prstGeom>
          <a:solidFill>
            <a:srgbClr val="5B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86784" y="1060704"/>
            <a:ext cx="4224528" cy="804672"/>
          </a:xfrm>
          <a:prstGeom prst="roundRect">
            <a:avLst/>
          </a:prstGeom>
          <a:solidFill>
            <a:srgbClr val="FFF4E2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23944" y="1179576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B27422"/>
                </a:solidFill>
                <a:latin typeface="Microsoft YaHei"/>
              </a:defRPr>
            </a:pPr>
            <a:r>
              <a:t>处理逻辑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9744" y="1170432"/>
            <a:ext cx="3264408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从原图估计 DAB 强度，移除 DAB 不足的 prompt 像素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247888" y="1316736"/>
            <a:ext cx="164592" cy="219456"/>
          </a:xfrm>
          <a:prstGeom prst="rightArrow">
            <a:avLst/>
          </a:prstGeom>
          <a:solidFill>
            <a:srgbClr val="5B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39912" y="1060704"/>
            <a:ext cx="3154680" cy="804672"/>
          </a:xfrm>
          <a:prstGeom prst="roundRect">
            <a:avLst/>
          </a:prstGeom>
          <a:solidFill>
            <a:srgbClr val="E5F6EE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1179576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2A875C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2872" y="1170432"/>
            <a:ext cx="21945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filtered prompt：更可信的阳性提示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1993392"/>
            <a:ext cx="2468880" cy="2734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tep3_02_weighted_dab_intens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084832"/>
            <a:ext cx="2322576" cy="23225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13232" y="4498848"/>
            <a:ext cx="232257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原图估计的 DAB 强度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01568" y="1993392"/>
            <a:ext cx="2240280" cy="2734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tep3_03_weighted_dab_intensity_keep_mas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2199132"/>
            <a:ext cx="2093976" cy="209397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474720" y="4498848"/>
            <a:ext cx="209397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DAB 保留区域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1993392"/>
            <a:ext cx="2468880" cy="2734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tep3_06_weighted_dab_filter_overla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2084832"/>
            <a:ext cx="2322576" cy="23225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16752" y="4498848"/>
            <a:ext cx="232257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DAB 过滤 overlay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32520" y="2057400"/>
            <a:ext cx="25146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32520" y="2057400"/>
            <a:ext cx="64008" cy="1143000"/>
          </a:xfrm>
          <a:prstGeom prst="rect">
            <a:avLst/>
          </a:prstGeom>
          <a:solidFill>
            <a:srgbClr val="A03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15400" y="2194560"/>
            <a:ext cx="21945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A0362D"/>
                </a:solidFill>
                <a:latin typeface="Microsoft YaHei"/>
              </a:defRPr>
            </a:pPr>
            <a:r>
              <a:t>本 tile 数字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532888"/>
            <a:ext cx="2194560" cy="5760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DAB 阈值：125。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候选 prompt：44,188 px。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移除：12,756 px。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32520" y="3474720"/>
            <a:ext cx="25146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732520" y="3474720"/>
            <a:ext cx="64008" cy="960120"/>
          </a:xfrm>
          <a:prstGeom prst="rect">
            <a:avLst/>
          </a:prstGeom>
          <a:solidFill>
            <a:srgbClr val="2A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15400" y="3611880"/>
            <a:ext cx="21945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A875C"/>
                </a:solidFill>
                <a:latin typeface="Microsoft YaHei"/>
              </a:defRPr>
            </a:pPr>
            <a:r>
              <a:t>这一步解决什么问题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3950208"/>
            <a:ext cx="2194560" cy="3931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减少弱染色背景被误当作血管。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减少 DeepLIIF 中间图带来的假阳性。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074920"/>
            <a:ext cx="1046988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" y="5193792"/>
            <a:ext cx="101498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40" b="1">
                <a:solidFill>
                  <a:srgbClr val="B27422"/>
                </a:solidFill>
                <a:latin typeface="Microsoft YaHei"/>
              </a:defRPr>
            </a:pPr>
            <a:r>
              <a:t>注意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" y="5504688"/>
            <a:ext cx="101498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DAB 过滤不是简单删除所有低强度区域。对于可能的管腔和被结构包围的区域，后续还会通过 lumen 逻辑保护或补回。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40" b="0">
                <a:solidFill>
                  <a:srgbClr val="5B6574"/>
                </a:solidFill>
                <a:latin typeface="Microsoft YaHei"/>
              </a:defRPr>
            </a:pPr>
            <a:r>
              <a:t>样例：debug_output/test08 / tile_37_13_4992_14208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099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300" b="1">
                <a:solidFill>
                  <a:srgbClr val="111827"/>
                </a:solidFill>
                <a:latin typeface="Microsoft YaHei"/>
              </a:defRPr>
            </a:pPr>
            <a:r>
              <a:t>Step 7：强 DAB 和管腔逻辑把真实血管补回来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50" b="0">
                <a:solidFill>
                  <a:srgbClr val="5B6574"/>
                </a:solidFill>
                <a:latin typeface="Microsoft YaHei"/>
              </a:defRPr>
            </a:pPr>
            <a:r>
              <a:t>核心思想：既要过滤噪声，也不能把真实血管壁或管腔结构误删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14984"/>
            <a:ext cx="11201400" cy="18288"/>
          </a:xfrm>
          <a:prstGeom prst="rect">
            <a:avLst/>
          </a:prstGeom>
          <a:solidFill>
            <a:srgbClr val="DD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" y="1060704"/>
            <a:ext cx="3154680" cy="804672"/>
          </a:xfrm>
          <a:prstGeom prst="roundRect">
            <a:avLst/>
          </a:prstGeom>
          <a:solidFill>
            <a:srgbClr val="E7F0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179576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2863AF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1170432"/>
            <a:ext cx="21945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filtered prompt + DAB 强度 + DAPI/管腔候选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94760" y="1316736"/>
            <a:ext cx="164592" cy="219456"/>
          </a:xfrm>
          <a:prstGeom prst="rightArrow">
            <a:avLst/>
          </a:prstGeom>
          <a:solidFill>
            <a:srgbClr val="5B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86784" y="1060704"/>
            <a:ext cx="4224528" cy="804672"/>
          </a:xfrm>
          <a:prstGeom prst="roundRect">
            <a:avLst/>
          </a:prstGeom>
          <a:solidFill>
            <a:srgbClr val="FFF4E2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23944" y="1179576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B27422"/>
                </a:solidFill>
                <a:latin typeface="Microsoft YaHei"/>
              </a:defRPr>
            </a:pPr>
            <a:r>
              <a:t>处理逻辑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9744" y="1170432"/>
            <a:ext cx="3264408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强 DAB 区域升级权重；被血管壁包围的管腔区域增加 positive point 或弱填充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247888" y="1316736"/>
            <a:ext cx="164592" cy="219456"/>
          </a:xfrm>
          <a:prstGeom prst="rightArrow">
            <a:avLst/>
          </a:prstGeom>
          <a:solidFill>
            <a:srgbClr val="5B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39912" y="1060704"/>
            <a:ext cx="3154680" cy="804672"/>
          </a:xfrm>
          <a:prstGeom prst="roundRect">
            <a:avLst/>
          </a:prstGeom>
          <a:solidFill>
            <a:srgbClr val="E5F6EE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1179576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2A875C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2872" y="1170432"/>
            <a:ext cx="21945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最终 weighted prompt + positive points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1965960"/>
            <a:ext cx="2331720" cy="26426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tep3_11_weighted_dab_support_heat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080260"/>
            <a:ext cx="2185416" cy="218541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7512" y="4379976"/>
            <a:ext cx="218541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强 DAB 支持热图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1965960"/>
            <a:ext cx="2331720" cy="26426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tep3_20_weighted_final_heat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2080260"/>
            <a:ext cx="2185416" cy="218541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319272" y="4379976"/>
            <a:ext cx="218541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最终 prompt 热图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80" y="1965960"/>
            <a:ext cx="2331720" cy="26426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tep3_21_weighted_final_overla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2080260"/>
            <a:ext cx="2185416" cy="218541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71032" y="4379976"/>
            <a:ext cx="218541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最终 prompt 叠加原图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1965960"/>
            <a:ext cx="2331720" cy="26426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tep3_33_weighted_positive_point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792" y="2080260"/>
            <a:ext cx="2185416" cy="218541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622792" y="4379976"/>
            <a:ext cx="218541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positive points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892040"/>
            <a:ext cx="31546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4892040"/>
            <a:ext cx="64008" cy="914400"/>
          </a:xfrm>
          <a:prstGeom prst="rect">
            <a:avLst/>
          </a:prstGeom>
          <a:solidFill>
            <a:srgbClr val="2A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029200"/>
            <a:ext cx="28346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A875C"/>
                </a:solidFill>
                <a:latin typeface="Microsoft YaHei"/>
              </a:defRPr>
            </a:pPr>
            <a:r>
              <a:t>补强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367528"/>
            <a:ext cx="2834640" cy="3474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强 DAB 新增 prompt：23,013 px。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强 DAB 升级 prompt：13,700 px。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0" y="4892040"/>
            <a:ext cx="31546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06240" y="4892040"/>
            <a:ext cx="64008" cy="914400"/>
          </a:xfrm>
          <a:prstGeom prst="rect">
            <a:avLst/>
          </a:prstGeom>
          <a:solidFill>
            <a:srgbClr val="28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5029200"/>
            <a:ext cx="28346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863AF"/>
                </a:solidFill>
                <a:latin typeface="Microsoft YaHei"/>
              </a:defRPr>
            </a:pPr>
            <a:r>
              <a:t>管腔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5367528"/>
            <a:ext cx="2834640" cy="3474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DAB lumen 接受数：8。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DAPI lumen 接受数：0。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这些点帮助 SAM2 保持管腔结构连续。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35240" y="4892040"/>
            <a:ext cx="31546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35240" y="4892040"/>
            <a:ext cx="64008" cy="914400"/>
          </a:xfrm>
          <a:prstGeom prst="rect">
            <a:avLst/>
          </a:prstGeom>
          <a:solidFill>
            <a:srgbClr val="A03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18120" y="5029200"/>
            <a:ext cx="28346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A0362D"/>
                </a:solidFill>
                <a:latin typeface="Microsoft YaHei"/>
              </a:defRPr>
            </a:pPr>
            <a:r>
              <a:t>最终结果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5367528"/>
            <a:ext cx="2834640" cy="3474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最终非负 prompt 像素：56,393 px。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总 positive points：29 个。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40" b="0">
                <a:solidFill>
                  <a:srgbClr val="5B6574"/>
                </a:solidFill>
                <a:latin typeface="Microsoft YaHei"/>
              </a:defRPr>
            </a:pPr>
            <a:r>
              <a:t>样例：debug_output/test08 / tile_37_13_4992_14208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099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300" b="1">
                <a:solidFill>
                  <a:srgbClr val="111827"/>
                </a:solidFill>
                <a:latin typeface="Microsoft YaHei"/>
              </a:defRPr>
            </a:pPr>
            <a:r>
              <a:t>Step 8：真正输入给 SAM2 的不是二值 mask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50" b="0">
                <a:solidFill>
                  <a:srgbClr val="5B6574"/>
                </a:solidFill>
                <a:latin typeface="Microsoft YaHei"/>
              </a:defRPr>
            </a:pPr>
            <a:r>
              <a:t>SAM2 接收的是一张低分辨率 weighted mask_input，加上一组阳性点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14984"/>
            <a:ext cx="11201400" cy="18288"/>
          </a:xfrm>
          <a:prstGeom prst="rect">
            <a:avLst/>
          </a:prstGeom>
          <a:solidFill>
            <a:srgbClr val="DD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" y="1060704"/>
            <a:ext cx="3154680" cy="804672"/>
          </a:xfrm>
          <a:prstGeom prst="roundRect">
            <a:avLst/>
          </a:prstGeom>
          <a:solidFill>
            <a:srgbClr val="E7F0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179576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2863AF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1170432"/>
            <a:ext cx="21945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最终 prompt logits + positive points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94760" y="1316736"/>
            <a:ext cx="164592" cy="219456"/>
          </a:xfrm>
          <a:prstGeom prst="rightArrow">
            <a:avLst/>
          </a:prstGeom>
          <a:solidFill>
            <a:srgbClr val="5B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86784" y="1060704"/>
            <a:ext cx="4224528" cy="804672"/>
          </a:xfrm>
          <a:prstGeom prst="roundRect">
            <a:avLst/>
          </a:prstGeom>
          <a:solidFill>
            <a:srgbClr val="FFF4E2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23944" y="1179576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B27422"/>
                </a:solidFill>
                <a:latin typeface="Microsoft YaHei"/>
              </a:defRPr>
            </a:pPr>
            <a:r>
              <a:t>处理逻辑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9744" y="1170432"/>
            <a:ext cx="3264408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把 512x512 prompt 池化到 256x256，作为 SAM2 的 mask_input；阳性点作为额外约束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247888" y="1316736"/>
            <a:ext cx="164592" cy="219456"/>
          </a:xfrm>
          <a:prstGeom prst="rightArrow">
            <a:avLst/>
          </a:prstGeom>
          <a:solidFill>
            <a:srgbClr val="5B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39912" y="1060704"/>
            <a:ext cx="3154680" cy="804672"/>
          </a:xfrm>
          <a:prstGeom prst="roundRect">
            <a:avLst/>
          </a:prstGeom>
          <a:solidFill>
            <a:srgbClr val="E5F6EE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1179576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2A875C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2872" y="1170432"/>
            <a:ext cx="21945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SAM2 可理解的 mask_input 和 point prompts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011680"/>
            <a:ext cx="3246120" cy="35570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tep3_22_weighted_mask_input_2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125980"/>
            <a:ext cx="3099816" cy="309981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87552" y="5340096"/>
            <a:ext cx="309981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mask_input：1x256x256 weighted logits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2011680"/>
            <a:ext cx="3246120" cy="35570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tep3_33_weighted_positive_poin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2125980"/>
            <a:ext cx="3099816" cy="309981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645152" y="5340096"/>
            <a:ext cx="309981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point prompts：强阳性点和管腔点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2148840"/>
            <a:ext cx="27432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2148840"/>
            <a:ext cx="64008" cy="1234440"/>
          </a:xfrm>
          <a:prstGeom prst="rect">
            <a:avLst/>
          </a:prstGeom>
          <a:solidFill>
            <a:srgbClr val="B27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2286000"/>
            <a:ext cx="24231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B27422"/>
                </a:solidFill>
                <a:latin typeface="Microsoft YaHei"/>
              </a:defRPr>
            </a:pPr>
            <a:r>
              <a:t>mask_input 含义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624328"/>
            <a:ext cx="2423160" cy="6675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-5 表示强烈排除。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0 表示不确定。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1 到 5 表示越来越强的支持。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657600"/>
            <a:ext cx="27432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657600"/>
            <a:ext cx="64008" cy="1143000"/>
          </a:xfrm>
          <a:prstGeom prst="rect">
            <a:avLst/>
          </a:prstGeom>
          <a:solidFill>
            <a:srgbClr val="28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794760"/>
            <a:ext cx="24231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863AF"/>
                </a:solidFill>
                <a:latin typeface="Microsoft YaHei"/>
              </a:defRPr>
            </a:pPr>
            <a:r>
              <a:t>point prompts 含义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133088"/>
            <a:ext cx="2423160" cy="5760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点的位置来自强阳性连通区域或管腔候选。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本 tile 输入 SAM2 的点数：29 个。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5806440"/>
            <a:ext cx="1005840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" y="5925312"/>
            <a:ext cx="97383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40" b="1">
                <a:solidFill>
                  <a:srgbClr val="A0362D"/>
                </a:solidFill>
                <a:latin typeface="Microsoft YaHei"/>
              </a:defRPr>
            </a:pPr>
            <a:r>
              <a:t>本页重点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6236208"/>
            <a:ext cx="9738360" cy="-91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weighted prompt 的目的，是把病理染色线索转换成 SAM2 能使用的形状先验，而不是直接替代 SAM2。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40" b="0">
                <a:solidFill>
                  <a:srgbClr val="5B6574"/>
                </a:solidFill>
                <a:latin typeface="Microsoft YaHei"/>
              </a:defRPr>
            </a:pPr>
            <a:r>
              <a:t>样例：debug_output/test08 / tile_37_13_4992_14208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099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300" b="1">
                <a:solidFill>
                  <a:srgbClr val="111827"/>
                </a:solidFill>
                <a:latin typeface="Microsoft YaHei"/>
              </a:defRPr>
            </a:pPr>
            <a:r>
              <a:t>Step 9：SAM2 生成多个候选 mask，选择分数最高的一个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50" b="0">
                <a:solidFill>
                  <a:srgbClr val="5B6574"/>
                </a:solidFill>
                <a:latin typeface="Microsoft YaHei"/>
              </a:defRPr>
            </a:pPr>
            <a:r>
              <a:t>SAM2 根据原图、mask_input 和点提示生成候选结果；当前选择 score 最大的候选作为 raw mask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14984"/>
            <a:ext cx="11201400" cy="18288"/>
          </a:xfrm>
          <a:prstGeom prst="rect">
            <a:avLst/>
          </a:prstGeom>
          <a:solidFill>
            <a:srgbClr val="DD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" y="1060704"/>
            <a:ext cx="3154680" cy="804672"/>
          </a:xfrm>
          <a:prstGeom prst="roundRect">
            <a:avLst/>
          </a:prstGeom>
          <a:solidFill>
            <a:srgbClr val="E7F0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179576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2863AF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1170432"/>
            <a:ext cx="21945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原图 tile + mask_input + positive points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94760" y="1316736"/>
            <a:ext cx="164592" cy="219456"/>
          </a:xfrm>
          <a:prstGeom prst="rightArrow">
            <a:avLst/>
          </a:prstGeom>
          <a:solidFill>
            <a:srgbClr val="5B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86784" y="1060704"/>
            <a:ext cx="4224528" cy="804672"/>
          </a:xfrm>
          <a:prstGeom prst="roundRect">
            <a:avLst/>
          </a:prstGeom>
          <a:solidFill>
            <a:srgbClr val="FFF4E2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23944" y="1179576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B27422"/>
                </a:solidFill>
                <a:latin typeface="Microsoft YaHei"/>
              </a:defRPr>
            </a:pPr>
            <a:r>
              <a:t>处理逻辑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9744" y="1170432"/>
            <a:ext cx="3264408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SAM2 生成多个候选 mask，并为每个候选给出 score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247888" y="1316736"/>
            <a:ext cx="164592" cy="219456"/>
          </a:xfrm>
          <a:prstGeom prst="rightArrow">
            <a:avLst/>
          </a:prstGeom>
          <a:solidFill>
            <a:srgbClr val="5B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39912" y="1060704"/>
            <a:ext cx="3154680" cy="804672"/>
          </a:xfrm>
          <a:prstGeom prst="roundRect">
            <a:avLst/>
          </a:prstGeom>
          <a:solidFill>
            <a:srgbClr val="E5F6EE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1179576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2A875C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2872" y="1170432"/>
            <a:ext cx="21945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best raw mask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011680"/>
            <a:ext cx="2880360" cy="31912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tep4_weighted_candidate_0_score_0.91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125980"/>
            <a:ext cx="2734056" cy="27340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58952" y="4974336"/>
            <a:ext cx="273405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候选 0：score=0.9157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86200" y="2011680"/>
            <a:ext cx="2880360" cy="31912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tep4_weighted_candidate_1_score_0.656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352" y="2125980"/>
            <a:ext cx="2734056" cy="273405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959352" y="4974336"/>
            <a:ext cx="273405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候选 1：score=0.6561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2011680"/>
            <a:ext cx="2880360" cy="31912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tep4_weighted_candidate_2_score_0.949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752" y="2125980"/>
            <a:ext cx="2734056" cy="273405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159752" y="4974336"/>
            <a:ext cx="273405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候选 2：score=0.9497，最终选择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32720" y="2331720"/>
            <a:ext cx="914400" cy="694944"/>
          </a:xfrm>
          <a:prstGeom prst="roundRect">
            <a:avLst/>
          </a:prstGeom>
          <a:solidFill>
            <a:srgbClr val="FCECE8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05872" y="2441448"/>
            <a:ext cx="7680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800" b="1">
                <a:solidFill>
                  <a:srgbClr val="A0362D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05872" y="2788920"/>
            <a:ext cx="76809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best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32720" y="3246120"/>
            <a:ext cx="914400" cy="694944"/>
          </a:xfrm>
          <a:prstGeom prst="roundRect">
            <a:avLst/>
          </a:prstGeom>
          <a:solidFill>
            <a:srgbClr val="E5F6EE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05872" y="3355848"/>
            <a:ext cx="7680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800" b="1">
                <a:solidFill>
                  <a:srgbClr val="2A875C"/>
                </a:solidFill>
                <a:latin typeface="Microsoft YaHei"/>
              </a:defRPr>
            </a:pPr>
            <a:r>
              <a:t>0.950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05872" y="3703320"/>
            <a:ext cx="76809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score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5349240"/>
            <a:ext cx="1019556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3272" y="5468112"/>
            <a:ext cx="9875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40" b="1">
                <a:solidFill>
                  <a:srgbClr val="2863AF"/>
                </a:solidFill>
                <a:latin typeface="Microsoft YaHei"/>
              </a:defRPr>
            </a:pPr>
            <a:r>
              <a:t>这一页要传达的信息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" y="5779008"/>
            <a:ext cx="9875520" cy="137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SAM2 负责把前面的提示转成更贴近图像边界的 mask。weighted prompt 负责告诉 SAM2 大概哪里应该分割，SAM2 负责细化边界。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40" b="0">
                <a:solidFill>
                  <a:srgbClr val="5B6574"/>
                </a:solidFill>
                <a:latin typeface="Microsoft YaHei"/>
              </a:defRPr>
            </a:pPr>
            <a:r>
              <a:t>样例：debug_output/test08 / tile_37_13_4992_14208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099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300" b="1">
                <a:solidFill>
                  <a:srgbClr val="111827"/>
                </a:solidFill>
                <a:latin typeface="Microsoft YaHei"/>
              </a:defRPr>
            </a:pPr>
            <a:r>
              <a:t>Step 10：SAM2 raw mask 需要拆成多个实例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50" b="0">
                <a:solidFill>
                  <a:srgbClr val="5B6574"/>
                </a:solidFill>
                <a:latin typeface="Microsoft YaHei"/>
              </a:defRPr>
            </a:pPr>
            <a:r>
              <a:t>一个 SAM2 mask 可能包含多个不相连的血管段，因此需要连通域拆分，才能得到实例级结果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14984"/>
            <a:ext cx="11201400" cy="18288"/>
          </a:xfrm>
          <a:prstGeom prst="rect">
            <a:avLst/>
          </a:prstGeom>
          <a:solidFill>
            <a:srgbClr val="DD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" y="1060704"/>
            <a:ext cx="3154680" cy="804672"/>
          </a:xfrm>
          <a:prstGeom prst="roundRect">
            <a:avLst/>
          </a:prstGeom>
          <a:solidFill>
            <a:srgbClr val="E7F0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179576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2863AF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1170432"/>
            <a:ext cx="21945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SAM2 best raw mask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94760" y="1316736"/>
            <a:ext cx="164592" cy="219456"/>
          </a:xfrm>
          <a:prstGeom prst="rightArrow">
            <a:avLst/>
          </a:prstGeom>
          <a:solidFill>
            <a:srgbClr val="5B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86784" y="1060704"/>
            <a:ext cx="4224528" cy="804672"/>
          </a:xfrm>
          <a:prstGeom prst="roundRect">
            <a:avLst/>
          </a:prstGeom>
          <a:solidFill>
            <a:srgbClr val="FFF4E2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23944" y="1179576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B27422"/>
                </a:solidFill>
                <a:latin typeface="Microsoft YaHei"/>
              </a:defRPr>
            </a:pPr>
            <a:r>
              <a:t>处理逻辑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9744" y="1170432"/>
            <a:ext cx="3264408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做连通域拆分；每个独立连通区域分配一个实例编号；可按面积等规则过滤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247888" y="1316736"/>
            <a:ext cx="164592" cy="219456"/>
          </a:xfrm>
          <a:prstGeom prst="rightArrow">
            <a:avLst/>
          </a:prstGeom>
          <a:solidFill>
            <a:srgbClr val="5B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39912" y="1060704"/>
            <a:ext cx="3154680" cy="804672"/>
          </a:xfrm>
          <a:prstGeom prst="roundRect">
            <a:avLst/>
          </a:prstGeom>
          <a:solidFill>
            <a:srgbClr val="E5F6EE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1179576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2A875C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2872" y="1170432"/>
            <a:ext cx="21945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tile 内实例 mask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93392"/>
            <a:ext cx="2834640" cy="30998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tep5_02_merge_filter_sam2_raw_overl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084832"/>
            <a:ext cx="2688336" cy="26883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58952" y="4864608"/>
            <a:ext cx="268833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SAM2 raw mask overlay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86200" y="1993392"/>
            <a:ext cx="2834640" cy="30998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tep5_05_merge_filter_merged_overl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352" y="2084832"/>
            <a:ext cx="2688336" cy="268833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959352" y="4864608"/>
            <a:ext cx="268833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拆分后的实例 overlay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1993392"/>
            <a:ext cx="2834640" cy="30998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tep7_sam2_merge_diff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752" y="2084832"/>
            <a:ext cx="2688336" cy="26883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159752" y="4864608"/>
            <a:ext cx="268833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raw vs merged diff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87000" y="2331720"/>
            <a:ext cx="960120" cy="658368"/>
          </a:xfrm>
          <a:prstGeom prst="roundRect">
            <a:avLst/>
          </a:prstGeom>
          <a:solidFill>
            <a:srgbClr val="FCECE8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60152" y="2441448"/>
            <a:ext cx="81381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800" b="1">
                <a:solidFill>
                  <a:srgbClr val="A0362D"/>
                </a:solidFill>
                <a:latin typeface="Microsoft YaHei"/>
              </a:defRPr>
            </a:pPr>
            <a:r>
              <a:t>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0152" y="2788920"/>
            <a:ext cx="81381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连通域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87000" y="3154680"/>
            <a:ext cx="960120" cy="658368"/>
          </a:xfrm>
          <a:prstGeom prst="roundRect">
            <a:avLst/>
          </a:prstGeom>
          <a:solidFill>
            <a:srgbClr val="E5F6EE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60152" y="3264408"/>
            <a:ext cx="81381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800" b="1">
                <a:solidFill>
                  <a:srgbClr val="2A875C"/>
                </a:solidFill>
                <a:latin typeface="Microsoft YaHei"/>
              </a:defRPr>
            </a:pPr>
            <a:r>
              <a:t>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0152" y="3611880"/>
            <a:ext cx="81381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保留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257800"/>
            <a:ext cx="333756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" y="5257800"/>
            <a:ext cx="64008" cy="822960"/>
          </a:xfrm>
          <a:prstGeom prst="rect">
            <a:avLst/>
          </a:prstGeom>
          <a:solidFill>
            <a:srgbClr val="A03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394960"/>
            <a:ext cx="3017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A0362D"/>
                </a:solidFill>
                <a:latin typeface="Microsoft YaHei"/>
              </a:defRPr>
            </a:pPr>
            <a:r>
              <a:t>为什么要拆分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733288"/>
            <a:ext cx="3017520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SAM2 可能把多个血管段放进同一个 mask。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统计时需要每个不相连区域作为独立实例。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34840" y="5257800"/>
            <a:ext cx="333756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34840" y="5257800"/>
            <a:ext cx="64008" cy="822960"/>
          </a:xfrm>
          <a:prstGeom prst="rect">
            <a:avLst/>
          </a:prstGeom>
          <a:solidFill>
            <a:srgbClr val="B27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17720" y="5394960"/>
            <a:ext cx="3017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B27422"/>
                </a:solidFill>
                <a:latin typeface="Microsoft YaHei"/>
              </a:defRPr>
            </a:pPr>
            <a:r>
              <a:t>当前状态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20" y="5733288"/>
            <a:ext cx="3017520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本 tile raw mask 拆成 56 个区域。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当前小面积过滤较宽松，所以小碎片也会保留。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5257800"/>
            <a:ext cx="297180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6720" y="5257800"/>
            <a:ext cx="64008" cy="822960"/>
          </a:xfrm>
          <a:prstGeom prst="rect">
            <a:avLst/>
          </a:prstGeom>
          <a:solidFill>
            <a:srgbClr val="2A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5394960"/>
            <a:ext cx="26517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A875C"/>
                </a:solidFill>
                <a:latin typeface="Microsoft YaHei"/>
              </a:defRPr>
            </a:pPr>
            <a:r>
              <a:t>后续优化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5733288"/>
            <a:ext cx="2651760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增加面积、形态和置信度联合过滤。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减少微小碎片进入最终统计。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40" b="0">
                <a:solidFill>
                  <a:srgbClr val="5B6574"/>
                </a:solidFill>
                <a:latin typeface="Microsoft YaHei"/>
              </a:defRPr>
            </a:pPr>
            <a:r>
              <a:t>样例：debug_output/test08 / tile_37_13_4992_14208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099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300" b="1">
                <a:solidFill>
                  <a:srgbClr val="111827"/>
                </a:solidFill>
                <a:latin typeface="Microsoft YaHei"/>
              </a:defRPr>
            </a:pPr>
            <a:r>
              <a:t>Step 11：多个 tile 拼接时要避免 overlap 重复计数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50" b="0">
                <a:solidFill>
                  <a:srgbClr val="5B6574"/>
                </a:solidFill>
                <a:latin typeface="Microsoft YaHei"/>
              </a:defRPr>
            </a:pPr>
            <a:r>
              <a:t>center-valid 只导出每个 tile 的中心有效区；overlap 区域用于判断跨 tile 是否属于同一血管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14984"/>
            <a:ext cx="11201400" cy="18288"/>
          </a:xfrm>
          <a:prstGeom prst="rect">
            <a:avLst/>
          </a:prstGeom>
          <a:solidFill>
            <a:srgbClr val="DD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" y="1060704"/>
            <a:ext cx="3154680" cy="804672"/>
          </a:xfrm>
          <a:prstGeom prst="roundRect">
            <a:avLst/>
          </a:prstGeom>
          <a:solidFill>
            <a:srgbClr val="E7F0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179576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2863AF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1170432"/>
            <a:ext cx="21945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每个 tile 的实例 mask + tile 坐标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94760" y="1316736"/>
            <a:ext cx="164592" cy="219456"/>
          </a:xfrm>
          <a:prstGeom prst="rightArrow">
            <a:avLst/>
          </a:prstGeom>
          <a:solidFill>
            <a:srgbClr val="5B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86784" y="1060704"/>
            <a:ext cx="4224528" cy="804672"/>
          </a:xfrm>
          <a:prstGeom prst="roundRect">
            <a:avLst/>
          </a:prstGeom>
          <a:solidFill>
            <a:srgbClr val="FFF4E2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23944" y="1179576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B27422"/>
                </a:solidFill>
                <a:latin typeface="Microsoft YaHei"/>
              </a:defRPr>
            </a:pPr>
            <a:r>
              <a:t>处理逻辑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9744" y="1170432"/>
            <a:ext cx="3264408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中心有效区导出；重叠区域做身份匹配；跨 tile 相同血管合并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247888" y="1316736"/>
            <a:ext cx="164592" cy="219456"/>
          </a:xfrm>
          <a:prstGeom prst="rightArrow">
            <a:avLst/>
          </a:prstGeom>
          <a:solidFill>
            <a:srgbClr val="5B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39912" y="1060704"/>
            <a:ext cx="3154680" cy="804672"/>
          </a:xfrm>
          <a:prstGeom prst="roundRect">
            <a:avLst/>
          </a:prstGeom>
          <a:solidFill>
            <a:srgbClr val="E5F6EE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1179576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2A875C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2872" y="1170432"/>
            <a:ext cx="21945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全 ROI 的实例集合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1874519"/>
            <a:ext cx="3063240" cy="32826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3_region_tile_merged_mosa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286" y="1947671"/>
            <a:ext cx="2449387" cy="29077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7512" y="4928615"/>
            <a:ext cx="291693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tile 内实例拼到 ROI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39" y="1874519"/>
            <a:ext cx="3063240" cy="32826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7_region_overlap_match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565" y="1947671"/>
            <a:ext cx="2449387" cy="290779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050791" y="4928615"/>
            <a:ext cx="291693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跨 tile overlap 匹配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20" y="1874519"/>
            <a:ext cx="3063240" cy="32826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06_region_tile_vs_geojson_diff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846" y="1947671"/>
            <a:ext cx="2449387" cy="290779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34072" y="4928615"/>
            <a:ext cx="291693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tile 结果与 GeoJSON 差异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5257800"/>
            <a:ext cx="1508760" cy="621792"/>
          </a:xfrm>
          <a:prstGeom prst="roundRect">
            <a:avLst/>
          </a:prstGeom>
          <a:solidFill>
            <a:srgbClr val="FFF4E2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5367528"/>
            <a:ext cx="136245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800" b="1">
                <a:solidFill>
                  <a:srgbClr val="B27422"/>
                </a:solidFill>
                <a:latin typeface="Microsoft YaHei"/>
              </a:defRPr>
            </a:pPr>
            <a:r>
              <a:t>569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" y="5715000"/>
            <a:ext cx="1362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tile 内实例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0" y="5257800"/>
            <a:ext cx="1508760" cy="621792"/>
          </a:xfrm>
          <a:prstGeom prst="roundRect">
            <a:avLst/>
          </a:prstGeom>
          <a:solidFill>
            <a:srgbClr val="FCECE8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16352" y="5367528"/>
            <a:ext cx="136245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800" b="1">
                <a:solidFill>
                  <a:srgbClr val="A0362D"/>
                </a:solidFill>
                <a:latin typeface="Microsoft YaHei"/>
              </a:defRPr>
            </a:pPr>
            <a:r>
              <a:t>404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16352" y="5715000"/>
            <a:ext cx="1362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最终实例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17720" y="5257800"/>
            <a:ext cx="1508760" cy="621792"/>
          </a:xfrm>
          <a:prstGeom prst="roundRect">
            <a:avLst/>
          </a:prstGeom>
          <a:solidFill>
            <a:srgbClr val="E5F6EE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90872" y="5367528"/>
            <a:ext cx="136245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800" b="1">
                <a:solidFill>
                  <a:srgbClr val="2A875C"/>
                </a:solidFill>
                <a:latin typeface="Microsoft YaHei"/>
              </a:defRPr>
            </a:pPr>
            <a:r>
              <a:t>56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90872" y="5715000"/>
            <a:ext cx="1362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合并匹配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29400" y="5074920"/>
            <a:ext cx="42976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29400" y="5074920"/>
            <a:ext cx="64008" cy="914400"/>
          </a:xfrm>
          <a:prstGeom prst="rect">
            <a:avLst/>
          </a:prstGeom>
          <a:solidFill>
            <a:srgbClr val="28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12280" y="5212080"/>
            <a:ext cx="39776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863AF"/>
                </a:solidFill>
                <a:latin typeface="Microsoft YaHei"/>
              </a:defRPr>
            </a:pPr>
            <a:r>
              <a:t>拼接逻辑的作用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5550408"/>
            <a:ext cx="3977640" cy="3474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减少 tile overlap 带来的重复导出。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保留 overlap 证据判断跨边界血管是否应合并。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把局部坐标统一到全局 ROI/WSI 坐标。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40" b="0">
                <a:solidFill>
                  <a:srgbClr val="5B6574"/>
                </a:solidFill>
                <a:latin typeface="Microsoft YaHei"/>
              </a:defRPr>
            </a:pPr>
            <a:r>
              <a:t>样例：debug_output/test08 / tile_37_13_4992_14208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099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300" b="1">
                <a:solidFill>
                  <a:srgbClr val="111827"/>
                </a:solidFill>
                <a:latin typeface="Microsoft YaHei"/>
              </a:defRPr>
            </a:pPr>
            <a:r>
              <a:t>Step 12：最终输出 GeoJSON 和统计表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50" b="0">
                <a:solidFill>
                  <a:srgbClr val="5B6574"/>
                </a:solidFill>
                <a:latin typeface="Microsoft YaHei"/>
              </a:defRPr>
            </a:pPr>
            <a:r>
              <a:t>最后一步把所有实例轮廓转成 WSI 全局坐标，形成可复查、可统计的结果文件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14984"/>
            <a:ext cx="11201400" cy="18288"/>
          </a:xfrm>
          <a:prstGeom prst="rect">
            <a:avLst/>
          </a:prstGeom>
          <a:solidFill>
            <a:srgbClr val="DD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" y="1060704"/>
            <a:ext cx="3154680" cy="804672"/>
          </a:xfrm>
          <a:prstGeom prst="roundRect">
            <a:avLst/>
          </a:prstGeom>
          <a:solidFill>
            <a:srgbClr val="E7F0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179576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2863AF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1170432"/>
            <a:ext cx="21945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全 ROI 实例集合 + tile 全局坐标 + WSI 分辨率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94760" y="1316736"/>
            <a:ext cx="164592" cy="219456"/>
          </a:xfrm>
          <a:prstGeom prst="rightArrow">
            <a:avLst/>
          </a:prstGeom>
          <a:solidFill>
            <a:srgbClr val="5B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86784" y="1060704"/>
            <a:ext cx="4224528" cy="804672"/>
          </a:xfrm>
          <a:prstGeom prst="roundRect">
            <a:avLst/>
          </a:prstGeom>
          <a:solidFill>
            <a:srgbClr val="FFF4E2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23944" y="1179576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B27422"/>
                </a:solidFill>
                <a:latin typeface="Microsoft YaHei"/>
              </a:defRPr>
            </a:pPr>
            <a:r>
              <a:t>处理逻辑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9744" y="1170432"/>
            <a:ext cx="3264408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轮廓提取、跨 tile 合并、多边形导出、面积统计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247888" y="1316736"/>
            <a:ext cx="164592" cy="219456"/>
          </a:xfrm>
          <a:prstGeom prst="rightArrow">
            <a:avLst/>
          </a:prstGeom>
          <a:solidFill>
            <a:srgbClr val="5B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39912" y="1060704"/>
            <a:ext cx="3154680" cy="804672"/>
          </a:xfrm>
          <a:prstGeom prst="roundRect">
            <a:avLst/>
          </a:prstGeom>
          <a:solidFill>
            <a:srgbClr val="E5F6EE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1179576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80" b="1">
                <a:solidFill>
                  <a:srgbClr val="2A875C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2872" y="1170432"/>
            <a:ext cx="21945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69" b="0">
                <a:solidFill>
                  <a:srgbClr val="1F2937"/>
                </a:solidFill>
                <a:latin typeface="Microsoft YaHei"/>
              </a:defRPr>
            </a:pPr>
            <a:r>
              <a:t>GeoJSON、summary.csv、statistics.csv、面积分布图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1920240"/>
            <a:ext cx="3886200" cy="33284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5_region_geojson_overl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230" y="1993392"/>
            <a:ext cx="2487899" cy="295351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13232" y="5020056"/>
            <a:ext cx="373989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最终 GeoJSON overlay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0" y="1920240"/>
            <a:ext cx="5989320" cy="28254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DC2200155 A3 CD34_area_histogr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2175537"/>
            <a:ext cx="5843016" cy="20863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873752" y="4517136"/>
            <a:ext cx="5843016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实例面积分布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3480" y="4800600"/>
            <a:ext cx="1188720" cy="621792"/>
          </a:xfrm>
          <a:prstGeom prst="roundRect">
            <a:avLst/>
          </a:prstGeom>
          <a:solidFill>
            <a:srgbClr val="FCECE8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56632" y="4910328"/>
            <a:ext cx="104241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800" b="1">
                <a:solidFill>
                  <a:srgbClr val="A0362D"/>
                </a:solidFill>
                <a:latin typeface="Microsoft YaHei"/>
              </a:defRPr>
            </a:pPr>
            <a:r>
              <a:t>404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56632" y="5257800"/>
            <a:ext cx="104241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count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800600"/>
            <a:ext cx="1188720" cy="621792"/>
          </a:xfrm>
          <a:prstGeom prst="roundRect">
            <a:avLst/>
          </a:prstGeom>
          <a:solidFill>
            <a:srgbClr val="FFF4E2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910328"/>
            <a:ext cx="104241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800" b="1">
                <a:solidFill>
                  <a:srgbClr val="B27422"/>
                </a:solidFill>
                <a:latin typeface="Microsoft YaHei"/>
              </a:defRPr>
            </a:pPr>
            <a:r>
              <a:t>2438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5257800"/>
            <a:ext cx="104241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mean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20" y="4800600"/>
            <a:ext cx="1188720" cy="621792"/>
          </a:xfrm>
          <a:prstGeom prst="roundRect">
            <a:avLst/>
          </a:prstGeom>
          <a:solidFill>
            <a:srgbClr val="E7F0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91272" y="4910328"/>
            <a:ext cx="104241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800" b="1">
                <a:solidFill>
                  <a:srgbClr val="2863A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1272" y="5257800"/>
            <a:ext cx="104241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median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4800600"/>
            <a:ext cx="1188720" cy="621792"/>
          </a:xfrm>
          <a:prstGeom prst="roundRect">
            <a:avLst/>
          </a:prstGeom>
          <a:solidFill>
            <a:srgbClr val="E5F6EE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08592" y="4910328"/>
            <a:ext cx="104241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800" b="1">
                <a:solidFill>
                  <a:srgbClr val="2A875C"/>
                </a:solidFill>
                <a:latin typeface="Microsoft YaHei"/>
              </a:defRPr>
            </a:pPr>
            <a:r>
              <a:t>103955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8592" y="5257800"/>
            <a:ext cx="104241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19" b="0">
                <a:solidFill>
                  <a:srgbClr val="5B6574"/>
                </a:solidFill>
                <a:latin typeface="Microsoft YaHei"/>
              </a:defRPr>
            </a:pPr>
            <a:r>
              <a:t>max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" y="5715000"/>
            <a:ext cx="996696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3272" y="5833872"/>
            <a:ext cx="96469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40" b="1">
                <a:solidFill>
                  <a:srgbClr val="A0362D"/>
                </a:solidFill>
                <a:latin typeface="Microsoft YaHei"/>
              </a:defRPr>
            </a:pPr>
            <a:r>
              <a:t>当前结果的一个重要观察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" y="6144768"/>
            <a:ext cx="9646920" cy="274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面积分布显示小碎片偏多：&lt;20 px2 的区域有 213 个，&lt;100 px2 的区域有 254 个。后续需要更严格的过滤规则。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40" b="0">
                <a:solidFill>
                  <a:srgbClr val="5B6574"/>
                </a:solidFill>
                <a:latin typeface="Microsoft YaHei"/>
              </a:defRPr>
            </a:pPr>
            <a:r>
              <a:t>样例：debug_output/test08 / tile_37_13_4992_14208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099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300" b="1">
                <a:solidFill>
                  <a:srgbClr val="111827"/>
                </a:solidFill>
                <a:latin typeface="Microsoft YaHei"/>
              </a:defRPr>
            </a:pPr>
            <a:r>
              <a:t>阶段总结：主流程已跑通，下一步重点是结果质量优化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50" b="0">
                <a:solidFill>
                  <a:srgbClr val="5B6574"/>
                </a:solidFill>
                <a:latin typeface="Microsoft YaHei"/>
              </a:defRPr>
            </a:pPr>
            <a:r>
              <a:t>这页可以作为汇报结束页，直接回答“现在做到哪了、问题是什么、下一步做什么”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14984"/>
            <a:ext cx="11201400" cy="18288"/>
          </a:xfrm>
          <a:prstGeom prst="rect">
            <a:avLst/>
          </a:prstGeom>
          <a:solidFill>
            <a:srgbClr val="DD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3246120" cy="3977639"/>
          </a:xfrm>
          <a:prstGeom prst="roundRect">
            <a:avLst/>
          </a:prstGeom>
          <a:solidFill>
            <a:srgbClr val="E5F6EE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64008" cy="3977639"/>
          </a:xfrm>
          <a:prstGeom prst="rect">
            <a:avLst/>
          </a:prstGeom>
          <a:solidFill>
            <a:srgbClr val="2A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A875C"/>
                </a:solidFill>
                <a:latin typeface="Microsoft YaHei"/>
              </a:defRPr>
            </a:pPr>
            <a:r>
              <a:t>已经完成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92808"/>
            <a:ext cx="2926080" cy="3410711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ROI tile 读取和坐标记录。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DeepLIIF 生成 Seg / Marker / DAPI 中间通道。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基于 Seg、Marker、DAB、DAPI 的 weighted prompt。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SAM2 分割和候选选择。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连通域拆分、center-valid 拼接和 GeoJSON 输出。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17320"/>
            <a:ext cx="3246120" cy="3977639"/>
          </a:xfrm>
          <a:prstGeom prst="roundRect">
            <a:avLst/>
          </a:prstGeom>
          <a:solidFill>
            <a:srgbClr val="FCECE8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417320"/>
            <a:ext cx="64008" cy="3977639"/>
          </a:xfrm>
          <a:prstGeom prst="rect">
            <a:avLst/>
          </a:prstGeom>
          <a:solidFill>
            <a:srgbClr val="A03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55448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A0362D"/>
                </a:solidFill>
                <a:latin typeface="Microsoft YaHei"/>
              </a:defRPr>
            </a:pPr>
            <a:r>
              <a:t>当前问题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892808"/>
            <a:ext cx="2926080" cy="3410711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部分小碎片会进入最终统计。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有些区域可能存在边界过宽或粘连。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目前是局部 ROI 验证，还需要扩展到更多 ROI 和 WSI。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缺少与人工标注的定量对照。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417320"/>
            <a:ext cx="3246120" cy="3977639"/>
          </a:xfrm>
          <a:prstGeom prst="roundRect">
            <a:avLst/>
          </a:prstGeom>
          <a:solidFill>
            <a:srgbClr val="E7F0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417320"/>
            <a:ext cx="64008" cy="3977639"/>
          </a:xfrm>
          <a:prstGeom prst="rect">
            <a:avLst/>
          </a:prstGeom>
          <a:solidFill>
            <a:srgbClr val="28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155448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863AF"/>
                </a:solidFill>
                <a:latin typeface="Microsoft YaHei"/>
              </a:defRPr>
            </a:pPr>
            <a:r>
              <a:t>下一步计划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1892808"/>
            <a:ext cx="2926080" cy="3410711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加入面积、形态、边界支持度和 score 的联合过滤。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整理人工复核样本，用召回、误检和边界质量评估。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在多 ROI / 多 WSI 上复测稳定性。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• 把当前 debug 报告流程固定下来，方便后续参数迭代。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806440"/>
            <a:ext cx="1033272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5925312"/>
            <a:ext cx="10012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40" b="1">
                <a:solidFill>
                  <a:srgbClr val="A0362D"/>
                </a:solidFill>
                <a:latin typeface="Microsoft YaHei"/>
              </a:defRPr>
            </a:pPr>
            <a:r>
              <a:t>汇报结论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6236208"/>
            <a:ext cx="10012680" cy="-640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40" b="0">
                <a:solidFill>
                  <a:srgbClr val="1F2937"/>
                </a:solidFill>
                <a:latin typeface="Microsoft YaHei"/>
              </a:defRPr>
            </a:pPr>
            <a:r>
              <a:t>当前项目已经从“模型能否跑通”推进到“输出质量是否足够稳定”的阶段，核心优化点是小碎片过滤和多样本验证。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40" b="0">
                <a:solidFill>
                  <a:srgbClr val="5B6574"/>
                </a:solidFill>
                <a:latin typeface="Microsoft YaHei"/>
              </a:defRPr>
            </a:pPr>
            <a:r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