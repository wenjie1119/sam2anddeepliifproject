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9692640" cy="6858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3100" b="1">
                <a:solidFill>
                  <a:srgbClr val="1F2937"/>
                </a:solidFill>
                <a:latin typeface="Microsoft YaHei"/>
              </a:defRPr>
            </a:pPr>
            <a:r>
              <a:t>CD34 微血管识别项目进度汇报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9326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700" b="0">
                <a:solidFill>
                  <a:srgbClr val="56606F"/>
                </a:solidFill>
                <a:latin typeface="Microsoft YaHei"/>
              </a:defRPr>
            </a:pPr>
            <a:r>
              <a:t>基于 debug_output/test08 的区域验证结果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1938528" cy="310896"/>
          </a:xfrm>
          <a:prstGeom prst="roundRect">
            <a:avLst/>
          </a:prstGeom>
          <a:solidFill>
            <a:srgbClr val="A0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DeepLIIF + SAM2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2057400"/>
            <a:ext cx="1938528" cy="310896"/>
          </a:xfrm>
          <a:prstGeom prst="roundRect">
            <a:avLst/>
          </a:prstGeom>
          <a:solidFill>
            <a:srgbClr val="2E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weighted-points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9472" y="2057400"/>
            <a:ext cx="1938528" cy="310896"/>
          </a:xfrm>
          <a:prstGeom prst="roundRect">
            <a:avLst/>
          </a:prstGeom>
          <a:solidFill>
            <a:srgbClr val="2D8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GeoJSON 导出</a:t>
            </a:r>
          </a:p>
        </p:txBody>
      </p:sp>
      <p:pic>
        <p:nvPicPr>
          <p:cNvPr id="8" name="Picture 7" descr="05_region_geojson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157" y="594360"/>
            <a:ext cx="4558524" cy="5413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6053328"/>
            <a:ext cx="470916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test08 最终 GeoJSON 覆盖结果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88920"/>
            <a:ext cx="1600200" cy="91440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535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107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验证 tiles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788920"/>
            <a:ext cx="1600200" cy="914400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9535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107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最终区域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2788920"/>
            <a:ext cx="1600200" cy="914400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29535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410712"/>
            <a:ext cx="132588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拼接匹配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690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• 已跑通从 WSI tile 到微血管实例 GeoJSON 的闭环。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• 当前重点从“能生成结果”推进到“边界质量、碎片过滤、跨 tile 合并稳定性”的验证阶段。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• test08 已形成可复查的中间图、统计表和性能曲线。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1088136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>
              <a:defRPr sz="850" b="0">
                <a:solidFill>
                  <a:srgbClr val="56606F"/>
                </a:solidFill>
                <a:latin typeface="Microsoft YaHei"/>
              </a:defRPr>
            </a:pPr>
            <a:r>
              <a:t>样本：DC2200155 A3 CD34 | 生成日期：2026-07-02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当前完成度概览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以 test08 结果为依据，项目已具备端到端处理与区域级调试能力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331720" cy="98755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选中 tile 全部完成 SAM2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331720" cy="987552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819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569 -&gt; 404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391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tile 内实例合并到最终区域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17320"/>
            <a:ext cx="2331720" cy="987552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5819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0391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DeepLIIF 拼接空洞像素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417320"/>
            <a:ext cx="23317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5819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B77A24"/>
                </a:solidFill>
                <a:latin typeface="Microsoft YaHei"/>
              </a:defRPr>
            </a:pPr>
            <a:r>
              <a:t>0.226 um/px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39112"/>
            <a:ext cx="2057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当前 WSI 像素分辨率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88920"/>
            <a:ext cx="73152" cy="960120"/>
          </a:xfrm>
          <a:prstGeom prst="rect">
            <a:avLst/>
          </a:prstGeom>
          <a:solidFill>
            <a:srgbClr val="2E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916936"/>
            <a:ext cx="170992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输入与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27832"/>
            <a:ext cx="170992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支持 WSI tile 枚举、ROI 框选、邻域 tile 自动扩展。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2788920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8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2788920"/>
            <a:ext cx="73152" cy="960120"/>
          </a:xfrm>
          <a:prstGeom prst="rect">
            <a:avLst/>
          </a:prstGeom>
          <a:solidFill>
            <a:srgbClr val="2D8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2916936"/>
            <a:ext cx="170992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DeepLIIF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3227832"/>
            <a:ext cx="170992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生成 Seg / Marker / DAPI 等中间通道，用于阳性提示构建。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788920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2788920"/>
            <a:ext cx="73152" cy="960120"/>
          </a:xfrm>
          <a:prstGeom prst="rect">
            <a:avLst/>
          </a:prstGeom>
          <a:solidFill>
            <a:srgbClr val="B7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2916936"/>
            <a:ext cx="170992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Prompt 构建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3227832"/>
            <a:ext cx="170992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Seg/Marker 加权、DAB 强度过滤、腔隙补点、伪影过滤。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788920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0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2788920"/>
            <a:ext cx="73152" cy="960120"/>
          </a:xfrm>
          <a:prstGeom prst="rect">
            <a:avLst/>
          </a:prstGeom>
          <a:solidFill>
            <a:srgbClr val="A0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2916936"/>
            <a:ext cx="170992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SAM2 分割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227832"/>
            <a:ext cx="170992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weighted-points 模式已作为主路径，输出候选 mask 和评分。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788920"/>
            <a:ext cx="19659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2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2788920"/>
            <a:ext cx="73152" cy="960120"/>
          </a:xfrm>
          <a:prstGeom prst="rect">
            <a:avLst/>
          </a:prstGeom>
          <a:solidFill>
            <a:srgbClr val="7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2916936"/>
            <a:ext cx="170992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拼接导出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227832"/>
            <a:ext cx="170992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center-valid 区域拼接、跨 tile 匹配、GeoJSON 导出。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97480" y="3273552"/>
            <a:ext cx="22860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92040" y="3273552"/>
            <a:ext cx="22860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86600" y="3273552"/>
            <a:ext cx="22860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281159" y="3273552"/>
            <a:ext cx="22860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434340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• 工程侧：调试输出已覆盖原图、DeepLIIF 中间通道、prompt 热图、SAM2 候选、合并结果和全区域拼接图。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• 算法侧：当前主线从“逐连通域二值 mask”收敛到 weighted-points，提高了对弱阳性和不连续血管壁的覆盖能力。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350" b="0">
                <a:solidFill>
                  <a:srgbClr val="1F2937"/>
                </a:solidFill>
                <a:latin typeface="Microsoft YaHei"/>
              </a:defRPr>
            </a:pPr>
            <a:r>
              <a:t>• 验证侧：test08 的结果已经能支持人工逐层复查，为后续参数迭代提供依据。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技术路线与数据流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当前主流程：DeepLIIF 提供免疫组化线索，SAM2 负责边界精细化，center-valid 负责跨 tile 稳定拼接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749808"/>
          </a:xfrm>
          <a:prstGeom prst="rect">
            <a:avLst/>
          </a:prstGeom>
          <a:solidFill>
            <a:srgbClr val="2E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4533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WSI /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5623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读取区域内 tile，并加入一圈邻域 tile 保证边界上下文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8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73152" cy="749808"/>
          </a:xfrm>
          <a:prstGeom prst="rect">
            <a:avLst/>
          </a:prstGeom>
          <a:solidFill>
            <a:srgbClr val="2D8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4533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DeepLIIF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185623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生成 Seg / Marker / DAPI；提取 CD34 阳性、细胞核和组织结构线索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7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73152" cy="749808"/>
          </a:xfrm>
          <a:prstGeom prst="rect">
            <a:avLst/>
          </a:prstGeom>
          <a:solidFill>
            <a:srgbClr val="B7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87121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weighted-points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8211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Seg/Marker 加权 mask + DAB 强度约束 + lumen 点 + artifact 过滤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74320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0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743200"/>
            <a:ext cx="73152" cy="749808"/>
          </a:xfrm>
          <a:prstGeom prst="rect">
            <a:avLst/>
          </a:prstGeom>
          <a:solidFill>
            <a:srgbClr val="A0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287121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SAM2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18211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使用 mask input 和阳性点提示，选择最佳候选 mask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02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73152" cy="749808"/>
          </a:xfrm>
          <a:prstGeom prst="rect">
            <a:avLst/>
          </a:prstGeom>
          <a:solidFill>
            <a:srgbClr val="7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19709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后处理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0799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连通域拆分、碎片合并/过滤、tile 内实例生成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069080"/>
            <a:ext cx="34290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069080"/>
            <a:ext cx="73152" cy="749808"/>
          </a:xfrm>
          <a:prstGeom prst="rect">
            <a:avLst/>
          </a:prstGeom>
          <a:solidFill>
            <a:srgbClr val="6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197096"/>
            <a:ext cx="3172968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拼接导出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507992"/>
            <a:ext cx="3172968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center-valid 裁剪、跨 tile overlap matching、GeoJSON 输出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9080" y="1792224"/>
            <a:ext cx="59436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59152" y="2167128"/>
            <a:ext cx="0" cy="576072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69080" y="3118104"/>
            <a:ext cx="59436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59152" y="3493008"/>
            <a:ext cx="0" cy="576072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69080" y="4443984"/>
            <a:ext cx="594360" cy="0"/>
          </a:xfrm>
          <a:prstGeom prst="line">
            <a:avLst/>
          </a:prstGeom>
          <a:ln w="1524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052560" y="1444752"/>
            <a:ext cx="2331720" cy="3584448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1664208"/>
            <a:ext cx="192024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400" b="1">
                <a:solidFill>
                  <a:srgbClr val="A0372D"/>
                </a:solidFill>
                <a:latin typeface="Microsoft YaHei"/>
              </a:defRPr>
            </a:pPr>
            <a:r>
              <a:t>当前关键变化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130552"/>
            <a:ext cx="190195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主流程统一为 weighted-points。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加入 DAB 强度门控，减少低强度噪声提示。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增加 lumen 相关补点，改善管腔结构召回。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输出完整 debug artifacts，便于定位误差来源。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test08 验证设置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本次结果来自一个局部 ROI 区域，重点检查拼接、提示构建和最终 GeoJSON 质量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3" y="1298448"/>
            <a:ext cx="4119612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36208"/>
            <a:ext cx="489204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ROI 原图拼接与 tile 网格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3492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00200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DC2200155 A3 CD34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93976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ROI bbox(level0)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93976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35867, 31155 -&gt; 36543, 32193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87752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像素分辨率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87752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0.2264 um/px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81528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tile / overlap / stride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81528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512 / 128 / 384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75304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选择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75304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30 个：core 12 + neighbor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69080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prompt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069080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weighted-points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62856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DeepLIIF 拼接画布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562856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1920 x 2304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056632"/>
            <a:ext cx="16916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1">
                <a:solidFill>
                  <a:srgbClr val="56606F"/>
                </a:solidFill>
                <a:latin typeface="Microsoft YaHei"/>
              </a:defRPr>
            </a:pPr>
            <a:r>
              <a:t>结果裁剪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056632"/>
            <a:ext cx="315468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Microsoft YaHei"/>
              </a:defRPr>
            </a:pPr>
            <a:r>
              <a:t>none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5989320"/>
            <a:ext cx="534924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说明：neighbor tile 参与上下文和边界拼接，但最终汇总以 ROI / valid 区域为准。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区域级结果：已能生成可复查的微血管实例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红色覆盖为最终 GeoJSON 实例，网格用于检查 tile 边界和跨 tile 一致性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region_original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593" y="1298448"/>
            <a:ext cx="4119612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36208"/>
            <a:ext cx="52120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原始 ROI mosaic</a:t>
            </a:r>
          </a:p>
        </p:txBody>
      </p:sp>
      <p:pic>
        <p:nvPicPr>
          <p:cNvPr id="8" name="Picture 7" descr="05_region_geojson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81" y="1298448"/>
            <a:ext cx="4119612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7648" y="6236208"/>
            <a:ext cx="52120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最终 GeoJSON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847088"/>
            <a:ext cx="1783080" cy="786384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2011680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2468880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final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2788920"/>
            <a:ext cx="1783080" cy="786384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2953512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50.5k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3410712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总面积 um2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3730752"/>
            <a:ext cx="1783080" cy="78638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3895344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4352544"/>
            <a:ext cx="150876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accepted 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中间结果：DeepLIIF 通道已接入主流程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DeepLIIF 输出为后续加权 prompt 提供结构、阳性染色和细胞核信息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stitched_deepliif_se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4" y="1298448"/>
            <a:ext cx="327591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276088"/>
            <a:ext cx="333756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Seg：组织结构/细胞边界</a:t>
            </a:r>
          </a:p>
        </p:txBody>
      </p:sp>
      <p:pic>
        <p:nvPicPr>
          <p:cNvPr id="8" name="Picture 7" descr="09_stitched_deepliif_mark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664" y="1298448"/>
            <a:ext cx="327591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5276088"/>
            <a:ext cx="333756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Marker：CD34 阳性线索</a:t>
            </a:r>
          </a:p>
        </p:txBody>
      </p:sp>
      <p:pic>
        <p:nvPicPr>
          <p:cNvPr id="10" name="Picture 9" descr="12_stitched_positive_regio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144" y="1298448"/>
            <a:ext cx="3275910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75320" y="5276088"/>
            <a:ext cx="333756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Positive regions：阳性区域编号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623560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当前能够将 DeepLIIF 的区域输出拼成全 ROI 画布，并保持 hole_pixels=0，说明 center-valid 拼接覆盖完整。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120" b="0">
                <a:solidFill>
                  <a:srgbClr val="1F2937"/>
                </a:solidFill>
                <a:latin typeface="Microsoft YaHei"/>
              </a:defRPr>
            </a:pPr>
            <a:r>
              <a:t>• 后续误差分析可以直接在 Seg / Marker / Positive regions 三层之间定位：是染色线索不足、prompt 构建偏差，还是 SAM2 边界选择问题。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单 tile 调试链路：prompt 到 SAM2 的闭环已打通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示例 tile_37_13_4992_14208：从原图、加权提示到合并后实例均有可视化输出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ep1_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2697480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069080"/>
            <a:ext cx="26974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原图</a:t>
            </a:r>
          </a:p>
        </p:txBody>
      </p:sp>
      <p:pic>
        <p:nvPicPr>
          <p:cNvPr id="8" name="Picture 7" descr="step3_21_weighted_f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25880"/>
            <a:ext cx="269748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0440" y="4069080"/>
            <a:ext cx="26974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weighted prompt overlay</a:t>
            </a:r>
          </a:p>
        </p:txBody>
      </p:sp>
      <p:pic>
        <p:nvPicPr>
          <p:cNvPr id="10" name="Picture 9" descr="step5_05_merge_filter_merged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25880"/>
            <a:ext cx="2697480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4069080"/>
            <a:ext cx="26974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SAM2 merge overlay</a:t>
            </a:r>
          </a:p>
        </p:txBody>
      </p:sp>
      <p:pic>
        <p:nvPicPr>
          <p:cNvPr id="12" name="Picture 11" descr="step7_sam2_merge_dif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645920"/>
            <a:ext cx="2057400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72600" y="4069080"/>
            <a:ext cx="20574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merge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965960" cy="786384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823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395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positive / lumen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617720"/>
            <a:ext cx="1965960" cy="786384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7823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0.950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395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best SAM2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4617720"/>
            <a:ext cx="1965960" cy="786384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7823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2395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tile final regions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617720"/>
            <a:ext cx="19659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7823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B77A2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239512"/>
            <a:ext cx="16916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accepted lumen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• DAB 强度过滤启用：marker 阈值 25，DAB min intensity 125。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• SAM2 产出 3 个候选，当前选择第 2 个候选，面积 45,610 px2。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跨 tile 拼接验证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center-valid 拼接减少 tile 边缘重复；overlap matching 用于把跨边界实例合并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region_tile_merged_mosa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91888"/>
            <a:ext cx="3246120" cy="3854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385816"/>
            <a:ext cx="324612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tile 内合并结果</a:t>
            </a:r>
          </a:p>
        </p:txBody>
      </p:sp>
      <p:pic>
        <p:nvPicPr>
          <p:cNvPr id="8" name="Picture 7" descr="07_region_overlap_match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91888"/>
            <a:ext cx="3246120" cy="3854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60" y="5385816"/>
            <a:ext cx="324612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overlap matches</a:t>
            </a:r>
          </a:p>
        </p:txBody>
      </p:sp>
      <p:pic>
        <p:nvPicPr>
          <p:cNvPr id="10" name="Picture 9" descr="06_region_tile_vs_geojson_dif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391888"/>
            <a:ext cx="3246120" cy="38547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5385816"/>
            <a:ext cx="324612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tile vs GeoJSON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1920240" cy="65836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7881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569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2453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tile_merged instances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5623560"/>
            <a:ext cx="1920240" cy="658368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57881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62453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final GeoJSON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623560"/>
            <a:ext cx="1920240" cy="658368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57881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6245352"/>
            <a:ext cx="164592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accepted matches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5623560"/>
            <a:ext cx="11887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5788152"/>
            <a:ext cx="914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B77A24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245352"/>
            <a:ext cx="9144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holes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量化统计：结果数量已稳定输出，但小碎片仍需优化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面积分布显示当前存在较多极小区域，后处理阈值和伪影过滤是下一阶段重点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C2200155 A3 CD34_area_hist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4047"/>
            <a:ext cx="6858000" cy="2450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858768"/>
            <a:ext cx="6858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区域面积分布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1645920" cy="713232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5819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A0372D"/>
                </a:solidFill>
                <a:latin typeface="Microsoft YaHei"/>
              </a:defRPr>
            </a:pPr>
            <a:r>
              <a:t>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0391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417320"/>
            <a:ext cx="1645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5819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B77A24"/>
                </a:solidFill>
                <a:latin typeface="Microsoft YaHei"/>
              </a:defRPr>
            </a:pPr>
            <a:r>
              <a:t>2438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0391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mean px2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331720"/>
            <a:ext cx="1645920" cy="713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24963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E67B2"/>
                </a:solidFill>
                <a:latin typeface="Microsoft YaHei"/>
              </a:defRPr>
            </a:pPr>
            <a:r>
              <a:t>14.5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9535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median px2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331720"/>
            <a:ext cx="1645920" cy="713232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4963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200" b="1">
                <a:solidFill>
                  <a:srgbClr val="2D8C60"/>
                </a:solidFill>
                <a:latin typeface="Microsoft YaHei"/>
              </a:defRPr>
            </a:pPr>
            <a:r>
              <a:t>103955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953512"/>
            <a:ext cx="137160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max px2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43400"/>
            <a:ext cx="1074420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23317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A0372D"/>
                </a:solidFill>
                <a:latin typeface="Microsoft YaHei"/>
              </a:defRPr>
            </a:pPr>
            <a:r>
              <a:t>&lt;5 px2：147 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72000"/>
            <a:ext cx="23317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A0372D"/>
                </a:solidFill>
                <a:latin typeface="Microsoft YaHei"/>
              </a:defRPr>
            </a:pPr>
            <a:r>
              <a:t>&lt;20 px2：213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572000"/>
            <a:ext cx="23317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A0372D"/>
                </a:solidFill>
                <a:latin typeface="Microsoft YaHei"/>
              </a:defRPr>
            </a:pPr>
            <a:r>
              <a:t>&lt;100 px2：254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72000"/>
            <a:ext cx="233172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300" b="1">
                <a:solidFill>
                  <a:srgbClr val="A0372D"/>
                </a:solidFill>
                <a:latin typeface="Microsoft YaHei"/>
              </a:defRPr>
            </a:pPr>
            <a:r>
              <a:t>&lt;500 px2：296 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结论：大区域可以被连续追踪，但大量小面积实例会拉低统计可信度；需要加入面积、形态和边界置信度联合过滤。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工程输出与性能监控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test08 已输出结果文件、调试图和运行曲线，便于复现实验和定位瓶颈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ics_progr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19"/>
            <a:ext cx="3383280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46119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progress</a:t>
            </a:r>
          </a:p>
        </p:txBody>
      </p:sp>
      <p:pic>
        <p:nvPicPr>
          <p:cNvPr id="8" name="Picture 7" descr="metrics_spe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7319"/>
            <a:ext cx="338328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43400" y="3246119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speed</a:t>
            </a:r>
          </a:p>
        </p:txBody>
      </p:sp>
      <p:pic>
        <p:nvPicPr>
          <p:cNvPr id="10" name="Picture 9" descr="metrics_throughp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17319"/>
            <a:ext cx="338328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3246119"/>
            <a:ext cx="338328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950" b="0">
                <a:solidFill>
                  <a:srgbClr val="56606F"/>
                </a:solidFill>
                <a:latin typeface="Microsoft YaHei"/>
              </a:defRPr>
            </a:pPr>
            <a:r>
              <a:t>throughput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7639"/>
            <a:ext cx="48463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438912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主要输出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53712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GeoJSON：DC2200155 A3 CD34.geojson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统计表：summary.csv / statistics.csv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区域调试图：01-13 系列 PNG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单 tile 调试链：step1-step7 系列 PNG/JSON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48920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87952"/>
            <a:ext cx="438912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当前工程状态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53712"/>
            <a:ext cx="4297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区域级 debug artifacts 已比较完整。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性能曲线已接入，但 test08 规模较小，尚不足以代表全 WSI 吞吐。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080" b="0">
                <a:solidFill>
                  <a:srgbClr val="1F2937"/>
                </a:solidFill>
                <a:latin typeface="Microsoft YaHei"/>
              </a:defRPr>
            </a:pPr>
            <a:r>
              <a:t>• 下一步需要在多 ROI / 多 WSI 上做批量稳定性评估。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当前判断与下一步计划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93268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050" b="0">
                <a:solidFill>
                  <a:srgbClr val="56606F"/>
                </a:solidFill>
                <a:latin typeface="Microsoft YaHei"/>
              </a:defRPr>
            </a:pPr>
            <a:r>
              <a:t>项目已进入结果质量迭代阶段，重点从 pipeline 可用性转向统计可信度和泛化验证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3271"/>
            <a:ext cx="11201400" cy="18288"/>
          </a:xfrm>
          <a:prstGeom prst="rect">
            <a:avLst/>
          </a:prstGeom>
          <a:solidFill>
            <a:srgbClr val="E0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4434840"/>
          </a:xfrm>
          <a:prstGeom prst="roundRect">
            <a:avLst/>
          </a:prstGeom>
          <a:solidFill>
            <a:srgbClr val="E8F7E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78892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700" b="1">
                <a:solidFill>
                  <a:srgbClr val="2D8C60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DeepLIIF + SAM2 端到端流程跑通。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weighted-points 成为主 prompt 路径。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ROI 级 center-valid 拼接和 GeoJSON 导出完成。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单 tile 和区域级 debug 可视化已形成闭环。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CECE8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91640"/>
            <a:ext cx="278892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700" b="1">
                <a:solidFill>
                  <a:srgbClr val="A0372D"/>
                </a:solidFill>
                <a:latin typeface="Microsoft YaHei"/>
              </a:defRPr>
            </a:pPr>
            <a:r>
              <a:t>待解决问题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极小碎片数量偏多，需要更严格的后处理规则。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部分血管边界过宽或粘连，需要结合形态学和强度约束细化。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当前只有区域验证，尚缺少多样本统计和人工标注对照。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性能曲线需要在全 WSI 或更大 ROI 上复测。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443484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40"/>
            <a:ext cx="278892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defRPr sz="1700" b="1">
                <a:solidFill>
                  <a:srgbClr val="2E67B2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2651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加入面积、长宽比、边界支持度联合过滤。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建立人工复核样本集，计算召回、误检和边界质量。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扩展到多 ROI / 多 WSI 批量验证。</a:t>
            </a:r>
          </a:p>
          <a:p>
            <a:pPr>
              <a:lnSpc>
                <a:spcPct val="112000"/>
              </a:lnSpc>
              <a:spcAft>
                <a:spcPts val="500"/>
              </a:spcAft>
              <a:defRPr sz="1250" b="0">
                <a:solidFill>
                  <a:srgbClr val="1F2937"/>
                </a:solidFill>
                <a:latin typeface="Microsoft YaHei"/>
              </a:defRPr>
            </a:pPr>
            <a:r>
              <a:t>• 整理参数配置和自动汇报脚本，固定可复现实验流程。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78992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>
              <a:defRPr sz="1250" b="1">
                <a:solidFill>
                  <a:srgbClr val="70231E"/>
                </a:solidFill>
                <a:latin typeface="Microsoft YaHei"/>
              </a:defRPr>
            </a:pPr>
            <a:r>
              <a:t>阶段结论：当前 pipeline 已具备项目演示和区域级调试条件，但还不应作为最终定量结果直接交付。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